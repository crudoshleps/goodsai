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6ddfc25709403c" /><Relationship Type="http://schemas.openxmlformats.org/officeDocument/2006/relationships/extended-properties" Target="/docProps/app.xml" Id="R1de7512d664749c7" /><Relationship Type="http://schemas.openxmlformats.org/officeDocument/2006/relationships/officeDocument" Target="/ppt/presentation.xml" Id="R5ed8e1dffd524a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e8165fac1d438f"/>
  </p:sldMasterIdLst>
  <p:notesMasterIdLst>
    <p:notesMasterId xmlns:r="http://schemas.openxmlformats.org/officeDocument/2006/relationships" r:id="R7f0402e15ecf432e"/>
  </p:notesMasterIdLst>
  <p:sldIdLst>
    <p:sldId xmlns:r="http://schemas.openxmlformats.org/officeDocument/2006/relationships" id="256" r:id="R19f01397d7a64df4"/>
    <p:sldId xmlns:r="http://schemas.openxmlformats.org/officeDocument/2006/relationships" id="257" r:id="Raf7467117fbd40c8"/>
    <p:sldId xmlns:r="http://schemas.openxmlformats.org/officeDocument/2006/relationships" id="258" r:id="R59533e488d364d0f"/>
    <p:sldId xmlns:r="http://schemas.openxmlformats.org/officeDocument/2006/relationships" id="259" r:id="R140c5048913044d2"/>
    <p:sldId xmlns:r="http://schemas.openxmlformats.org/officeDocument/2006/relationships" id="260" r:id="Rc75d4592f8ac4359"/>
    <p:sldId xmlns:r="http://schemas.openxmlformats.org/officeDocument/2006/relationships" id="261" r:id="R085dedd0ac864735"/>
    <p:sldId xmlns:r="http://schemas.openxmlformats.org/officeDocument/2006/relationships" id="262" r:id="R84c76c7be4ee402f"/>
    <p:sldId xmlns:r="http://schemas.openxmlformats.org/officeDocument/2006/relationships" id="263" r:id="R4b061f376bf44f07"/>
    <p:sldId xmlns:r="http://schemas.openxmlformats.org/officeDocument/2006/relationships" id="264" r:id="Rd10279a96af44444"/>
    <p:sldId xmlns:r="http://schemas.openxmlformats.org/officeDocument/2006/relationships" id="265" r:id="R4e145fcc23604e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1843930b084e9e" /><Relationship Type="http://schemas.openxmlformats.org/officeDocument/2006/relationships/slideMaster" Target="/ppt/slideMasters/slideMaster1.xml" Id="Raae8165fac1d438f" /><Relationship Type="http://schemas.openxmlformats.org/officeDocument/2006/relationships/notesMaster" Target="/ppt/notesMasters/notesMaster1.xml" Id="R7f0402e15ecf432e" /><Relationship Type="http://schemas.openxmlformats.org/officeDocument/2006/relationships/presProps" Target="/ppt/presProps.xml" Id="Rd67b024e78794dfb" /><Relationship Type="http://schemas.openxmlformats.org/officeDocument/2006/relationships/tableStyles" Target="/ppt/tableStyles.xml" Id="Rfa45c17f597e4c2b" /><Relationship Type="http://schemas.openxmlformats.org/officeDocument/2006/relationships/slide" Target="/ppt/slides/slide1.xml" Id="R19f01397d7a64df4" /><Relationship Type="http://schemas.openxmlformats.org/officeDocument/2006/relationships/slide" Target="/ppt/slides/slide2.xml" Id="Raf7467117fbd40c8" /><Relationship Type="http://schemas.openxmlformats.org/officeDocument/2006/relationships/slide" Target="/ppt/slides/slide3.xml" Id="R59533e488d364d0f" /><Relationship Type="http://schemas.openxmlformats.org/officeDocument/2006/relationships/slide" Target="/ppt/slides/slide4.xml" Id="R140c5048913044d2" /><Relationship Type="http://schemas.openxmlformats.org/officeDocument/2006/relationships/slide" Target="/ppt/slides/slide5.xml" Id="Rc75d4592f8ac4359" /><Relationship Type="http://schemas.openxmlformats.org/officeDocument/2006/relationships/slide" Target="/ppt/slides/slide6.xml" Id="R085dedd0ac864735" /><Relationship Type="http://schemas.openxmlformats.org/officeDocument/2006/relationships/slide" Target="/ppt/slides/slide7.xml" Id="R84c76c7be4ee402f" /><Relationship Type="http://schemas.openxmlformats.org/officeDocument/2006/relationships/slide" Target="/ppt/slides/slide8.xml" Id="R4b061f376bf44f07" /><Relationship Type="http://schemas.openxmlformats.org/officeDocument/2006/relationships/slide" Target="/ppt/slides/slide9.xml" Id="Rd10279a96af44444" /><Relationship Type="http://schemas.openxmlformats.org/officeDocument/2006/relationships/slide" Target="/ppt/slides/slide10.xml" Id="R4e145fcc23604e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007a59a43145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7060591acd429a" /><Relationship Type="http://schemas.openxmlformats.org/officeDocument/2006/relationships/notesMaster" Target="/ppt/notesMasters/notesMaster1.xml" Id="Re2884f714cf645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7c95df228f4582" /><Relationship Type="http://schemas.openxmlformats.org/officeDocument/2006/relationships/notesMaster" Target="/ppt/notesMasters/notesMaster1.xml" Id="R1c305606a3b743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fcf97bd3df4e38" /><Relationship Type="http://schemas.openxmlformats.org/officeDocument/2006/relationships/notesMaster" Target="/ppt/notesMasters/notesMaster1.xml" Id="R671cdfb3335f44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5fbf6e379942cc" /><Relationship Type="http://schemas.openxmlformats.org/officeDocument/2006/relationships/notesMaster" Target="/ppt/notesMasters/notesMaster1.xml" Id="Rf1245c33bcfa4c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dec643e97e4d8d" /><Relationship Type="http://schemas.openxmlformats.org/officeDocument/2006/relationships/notesMaster" Target="/ppt/notesMasters/notesMaster1.xml" Id="Rada230ec24bc4a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f0b87a627134e30" /><Relationship Type="http://schemas.openxmlformats.org/officeDocument/2006/relationships/notesMaster" Target="/ppt/notesMasters/notesMaster1.xml" Id="R97c8c1dd07a34f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5cc256e05d4718" /><Relationship Type="http://schemas.openxmlformats.org/officeDocument/2006/relationships/notesMaster" Target="/ppt/notesMasters/notesMaster1.xml" Id="Rb11e33424ae441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b723468d5f4f52" /><Relationship Type="http://schemas.openxmlformats.org/officeDocument/2006/relationships/notesMaster" Target="/ppt/notesMasters/notesMaster1.xml" Id="R5d2b2cae37c94f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374f3e3941f464d" /><Relationship Type="http://schemas.openxmlformats.org/officeDocument/2006/relationships/notesMaster" Target="/ppt/notesMasters/notesMaster1.xml" Id="Rb404ba2758d444a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9a199c9505a4938" /><Relationship Type="http://schemas.openxmlformats.org/officeDocument/2006/relationships/notesMaster" Target="/ppt/notesMasters/notesMaster1.xml" Id="Rcda19a61190e4f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5cf99bd8e949e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099d4a701344b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b113fbd9ff4ea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4e04836f2c4e8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0b8f4e930b4dd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d868f757b842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C25DBD2-3AC5-4E5E-BBFF-3834B42331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1BE202F-D0C2-4B00-99C6-A5D9818F977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F309642-366A-459A-BD92-22F875E4E6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FC073E-FA9E-4BBC-B98F-CDF4025BA4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895C195-DE5E-479A-AD42-B88C2E63B1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B0A2581-E526-4ECD-8F38-E2B1568091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9A07F15-B304-47A2-9A3C-1D86454692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6CF07CD-3ED9-43F0-9EBC-47179C5C3C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275E189-01BB-406D-960B-B7314EA341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945991D-6170-44DA-9FC4-AC9CDF09DC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b1f8954c6543a1" /><Relationship Type="http://schemas.openxmlformats.org/officeDocument/2006/relationships/slideLayout" Target="/ppt/slideLayouts/slideLayout1.xml" Id="R18a8b543a8f749a8" /><Relationship Type="http://schemas.openxmlformats.org/officeDocument/2006/relationships/slideLayout" Target="/ppt/slideLayouts/slideLayout2.xml" Id="Rc7e669cdb85142a7" /><Relationship Type="http://schemas.openxmlformats.org/officeDocument/2006/relationships/slideLayout" Target="/ppt/slideLayouts/slideLayout3.xml" Id="Rbe39296c6d574929" /><Relationship Type="http://schemas.openxmlformats.org/officeDocument/2006/relationships/slideLayout" Target="/ppt/slideLayouts/slideLayout4.xml" Id="R9e0b7da1b4b94ad6" /><Relationship Type="http://schemas.openxmlformats.org/officeDocument/2006/relationships/slideLayout" Target="/ppt/slideLayouts/slideLayout5.xml" Id="Rfe04fa17f93c4185" /><Relationship Type="http://schemas.openxmlformats.org/officeDocument/2006/relationships/slideLayout" Target="/ppt/slideLayouts/slideLayout6.xml" Id="R4f8dfb2a1dea42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a8b543a8f749a8"/>
    <p:sldLayoutId xmlns:r="http://schemas.openxmlformats.org/officeDocument/2006/relationships" id="2147483650" r:id="Rc7e669cdb85142a7"/>
    <p:sldLayoutId xmlns:r="http://schemas.openxmlformats.org/officeDocument/2006/relationships" id="2147483651" r:id="Rbe39296c6d574929"/>
    <p:sldLayoutId xmlns:r="http://schemas.openxmlformats.org/officeDocument/2006/relationships" id="2147483652" r:id="R9e0b7da1b4b94ad6"/>
    <p:sldLayoutId xmlns:r="http://schemas.openxmlformats.org/officeDocument/2006/relationships" id="2147483653" r:id="Rfe04fa17f93c4185"/>
    <p:sldLayoutId xmlns:r="http://schemas.openxmlformats.org/officeDocument/2006/relationships" id="2147483654" r:id="R4f8dfb2a1dea42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d0b67b32354224" /><Relationship Type="http://schemas.openxmlformats.org/officeDocument/2006/relationships/notesSlide" Target="/ppt/notesSlides/notesSlide1.xml" Id="R257eb36f4c6f4f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c8ac4a9cbf4270" /><Relationship Type="http://schemas.openxmlformats.org/officeDocument/2006/relationships/notesSlide" Target="/ppt/notesSlides/notesSlide2.xml" Id="R9ed5729b26d646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50eab5e6ae459d" /><Relationship Type="http://schemas.openxmlformats.org/officeDocument/2006/relationships/notesSlide" Target="/ppt/notesSlides/notesSlide3.xml" Id="Rf6ba74349af04b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2da1b63e5c4495" /><Relationship Type="http://schemas.openxmlformats.org/officeDocument/2006/relationships/notesSlide" Target="/ppt/notesSlides/notesSlide4.xml" Id="R8f1165ed18474b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7b925e5d224ab1" /><Relationship Type="http://schemas.openxmlformats.org/officeDocument/2006/relationships/notesSlide" Target="/ppt/notesSlides/notesSlide5.xml" Id="R0b791693dad84b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cb69a706ff4769" /><Relationship Type="http://schemas.openxmlformats.org/officeDocument/2006/relationships/notesSlide" Target="/ppt/notesSlides/notesSlide6.xml" Id="R3239e66ce9eb44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cf48db6e8d42fa" /><Relationship Type="http://schemas.openxmlformats.org/officeDocument/2006/relationships/notesSlide" Target="/ppt/notesSlides/notesSlide7.xml" Id="Rf66dde01d50f4b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619f66d15344f6" /><Relationship Type="http://schemas.openxmlformats.org/officeDocument/2006/relationships/notesSlide" Target="/ppt/notesSlides/notesSlide8.xml" Id="R9fb4b505439640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ec1bb9d35d4f58" /><Relationship Type="http://schemas.openxmlformats.org/officeDocument/2006/relationships/notesSlide" Target="/ppt/notesSlides/notesSlide9.xml" Id="R56477095285f481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87b28610a64f41" /><Relationship Type="http://schemas.openxmlformats.org/officeDocument/2006/relationships/notesSlide" Target="/ppt/notesSlides/notesSlide10.xml" Id="Ra15e5abd9e0947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E7721B-BF02-4AD5-9618-95942EEE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01 / PRODUCT 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25AA87-5780-49D4-9F58-6A5136BF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29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CRUDoshleps · ИТМО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06F5B2-3958-4D98-A2BF-DEE22E74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60ED1E-03CA-4C50-A60E-BBE1DAD0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6BA6C4-2199-4925-8BB5-DEA60D63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6477000"/>
            <a:ext cx="323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GoodsAI · продуктовый чекпоинт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4CF26-562C-4DB3-8DFB-6300E4A2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4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GoodsAI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8F2EA9-C9C9-4E1D-A22A-BFA38177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Безопасное автозаполнение характеристик товаров для поиска и фильтров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A8F391-D4C0-4B50-8410-5A8177C3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D5C575-A4CD-4E18-9C0B-94BF163C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Команда CRUDoshleps · ИТМО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D30890-834D-4FD1-9DB0-0E44C60F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Нестеров Владислав · Альметов Тимур</a:t>
            </a:r>
          </a:p>
          <a:p xmlns:a="http://schemas.openxmlformats.org/drawingml/2006/main">
            <a: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Алферов Глеб · Садовой Григорий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0D9A96-D56F-4AC6-906A-DA70EC22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257300"/>
            <a:ext cx="45720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052426-07DA-4BB3-A854-264B8869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543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КАРТОЧКА ТОВАРА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1AB985-FFA2-4320-9195-499100E5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52625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Смартфон Samsung Galaxy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C9FC39-DDF6-46C5-A258-E0345092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57450"/>
            <a:ext cx="361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10D93C-D796-4FFD-A3B6-9754BBBB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241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Объём памяти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DBDED5-45A6-4A6D-83AA-A8744291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860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5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5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256 ГБ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1EE583-D1B0-414E-AE9B-BE2CFA78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238500"/>
            <a:ext cx="3619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B9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8F32D5-C41E-4D74-B6F1-94960CDD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371850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BB4DC7-C873-42FD-827B-B25B7632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623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«встроенная память 256GB»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12DDBF-AF67-4F05-BEB0-88C16B26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14800"/>
            <a:ext cx="1562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DCEE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F7BE12-E087-4F7D-9096-67061139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191000"/>
            <a:ext cx="1238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0B1F3A"/>
                </a:solidFill>
                <a:latin typeface="Menlo"/>
                <a:ea typeface="Menlo"/>
                <a:cs typeface="Menlo"/>
              </a:rPr>
              <a:t>AUTO ACCEPT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3B99A6-D308-466E-BBDB-0D00AFDA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Заполняем только то, что подтверждено исходным текстом</a:t>
            </a:r>
          </a:p>
        </p:txBody>
      </p:sp>
    </p:spTree>
    <p:extLst>
      <p:ext uri="{BB962C8B-B14F-4D97-AF65-F5344CB8AC3E}">
        <p14:creationId xmlns:p14="http://schemas.microsoft.com/office/powerpoint/2010/main" val="15289073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4004D4-4516-4DEC-9985-8DBFA94AA2F9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696200" y="283845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B1F3A"/>
            </a:solidFill>
            <a:prstDash val="solid"/>
            <a:tailEnd type="arrow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81694C-7E5B-4C5E-8B29-F16A68C45E76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105400" y="283845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B1F3A"/>
            </a:solidFill>
            <a:prstDash val="solid"/>
            <a:tailEnd type="arrow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326C53-AFBA-4069-BE20-7400E4B547C1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514600" y="283845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B1F3A"/>
            </a:solidFill>
            <a:prstDash val="solid"/>
            <a:tailEnd type="arrow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21A69E-BF1C-4395-8420-1DC33E81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02 /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292005-086E-4D9E-966B-E0585968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29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CRUDoshleps · ИТМО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03778A-B3C6-4C3F-856A-0FB77507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66FBE6-4A90-49C8-9680-7E796089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E18D98-3DB0-439F-A8AD-2E558B04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6477000"/>
            <a:ext cx="323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GoodsAI · продуктовый чекпоинт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5B2E9F-2358-4E2F-A7EC-9D8AEB93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104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DCEE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806A86-79BA-4C88-AB08-F3F35EF9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14400"/>
            <a:ext cx="895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0B1F3A"/>
                </a:solidFill>
                <a:latin typeface="Menlo"/>
                <a:ea typeface="Menlo"/>
                <a:cs typeface="Menlo"/>
              </a:rPr>
              <a:t>ВОПРОС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C6B53-FABB-4D36-AA10-F058BF83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Пустая характеристика выключает товар из поиска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338359-6F6F-48DE-ADC0-AB88DE15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28875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5E7972-F0EC-4415-9510-CFEA83E8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1543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Неполная</a:t>
            </a:r>
          </a:p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карточка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601123-5B54-4689-B120-F354CCF8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28875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89A988-32BF-48A9-94AA-67364EA1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62225"/>
            <a:ext cx="1543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Товар не попадает</a:t>
            </a:r>
          </a:p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в фильтр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6149DE-CBCF-4EF9-8127-7C3042AB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28875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18D4AD-D5DD-4620-8CC8-CC9C64E3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62225"/>
            <a:ext cx="1543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Покупатель</a:t>
            </a:r>
          </a:p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не находит товар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100617-763F-4A72-922B-01336A0A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28875"/>
            <a:ext cx="2095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C7BD9A-C650-4C1C-A1EA-7F1DC338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62225"/>
            <a:ext cx="182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Риск снижения</a:t>
            </a:r>
          </a:p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CTR, конверсии, GMV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5EADB2-F9B5-47D9-8894-46A5AFEC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E19497-AE31-48EC-BB05-A441C0DD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Оператор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3A8E8D-39ED-4BE7-9092-BAE48608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Ищет характеристику</a:t>
            </a:r>
          </a:p>
          <a:p xmlns:a="http://schemas.openxmlformats.org/drawingml/2006/main">
            <a: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и проверяет её вручную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A0FBDB-B4C2-4F8B-9A5C-94C2FB5A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171950"/>
            <a:ext cx="95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597870-544B-46C6-8AB1-46AD5283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171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Продавец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41C74A-683B-4C6B-AEE7-505E6623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4767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Теряет полноту</a:t>
            </a:r>
          </a:p>
          <a:p xmlns:a="http://schemas.openxmlformats.org/drawingml/2006/main">
            <a: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карточки товара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B54E14-4CB2-450A-8E01-9A74BB06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171950"/>
            <a:ext cx="95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C2E30B-45B1-4A98-BF43-F3840C37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171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Покупатель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3BC8B2-384D-4204-BA37-69131748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767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Не видит подходящий</a:t>
            </a:r>
          </a:p>
          <a:p xmlns:a="http://schemas.openxmlformats.org/drawingml/2006/main">
            <a: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товар в фильтре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FD1004-00E3-4563-850C-E86803DC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71950"/>
            <a:ext cx="95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510873-BE7F-4822-98BB-4489E689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171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Каталог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C42A74-987B-4B2F-9B8E-5144283A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4767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Получает неполные</a:t>
            </a:r>
          </a:p>
          <a:p xmlns:a="http://schemas.openxmlformats.org/drawingml/2006/main">
            <a: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и несопоставимые поля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810FCD-6714-4495-9D5F-6E28BBAE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DCEE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A2CB82-18FB-41C7-9EC7-B3A4D1B7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4832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Главный пользователь MVP — оператор качества каталога</a:t>
            </a:r>
          </a:p>
        </p:txBody>
      </p:sp>
    </p:spTree>
    <p:extLst>
      <p:ext uri="{BB962C8B-B14F-4D97-AF65-F5344CB8AC3E}">
        <p14:creationId xmlns:p14="http://schemas.microsoft.com/office/powerpoint/2010/main" val="7273416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E7EDDB-FA10-449D-AAD0-72E9D366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03 / REQUIREMENTS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301EDA-02B1-4751-B454-60F26C6B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29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CRUDoshleps · ИТМО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79A032-128C-4D1E-8DED-D83A1384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FFC576-FDC8-4543-8B11-11E204D5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0BDF2-117C-435E-BBDE-FB196AC0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6477000"/>
            <a:ext cx="323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GoodsAI · продуктовый чекпоинт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8C031F-8E94-4A06-804F-99A39AF9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104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DCEE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AAF00-D35F-4015-BC09-FE3556DE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14400"/>
            <a:ext cx="895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0B1F3A"/>
                </a:solidFill>
                <a:latin typeface="Menlo"/>
                <a:ea typeface="Menlo"/>
                <a:cs typeface="Menlo"/>
              </a:rPr>
              <a:t>ВОПРОС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63DC05-6B77-4F8F-A098-6A66A25C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Ограничения кейса задают архитектуру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ED91A6-7CDA-46D6-9A54-59EBEB90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ОГРАНИЧЕНИЕ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CE1B99-FDF2-4114-992B-17052756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907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ОТВЕТ GOODSAI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009F7C-2A59-4467-AB36-2DFC9252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C39015-A2B8-40F1-8D5B-38956BF1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Только текст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C76959-BBDA-4D70-B431-E548CB8B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479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title, description и поля продавца; без изображений и OCR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A959F8-63DE-456A-8A62-40F2F5FA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096DCA-888C-4588-86CF-0FC17E34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Без галлюцинаций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11E93-2372-4A68-895C-8F7BAE5D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3850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auto_accept требует evidence span в исходном тексте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0D177B-2F4E-4138-9684-1236074F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2F3663-EFA7-486E-B427-3787C28D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Нормализация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6209F5-8A0A-4F0E-9B24-1778FF35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8290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256GB, 256 Гб, 0.25 TB → 256 ГБ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932D21-6DBD-4917-9E55-5C69474D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E4E4E9-B0FC-4685-AD0A-4FCB51CF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Контроль стоимости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B07491-6F04-47C9-BFBB-496BCDA9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41960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LLM получает только сложный остаток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3F65E6-0952-4F2A-A3AD-7B4D5CD1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018A25-D06A-4E01-AAF1-09D991F3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Long tail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5C3829-21E2-4EAA-87F0-3B133BA7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0101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срезы по категории, атрибуту и продавцу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9469FF-FCC6-4C52-9D08-EED8D495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9906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DCEE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8F5A49-9C5B-453C-91B6-8C678120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4357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Нет доказательства в тексте — abstain, а не догадка</a:t>
            </a:r>
          </a:p>
        </p:txBody>
      </p:sp>
    </p:spTree>
    <p:extLst>
      <p:ext uri="{BB962C8B-B14F-4D97-AF65-F5344CB8AC3E}">
        <p14:creationId xmlns:p14="http://schemas.microsoft.com/office/powerpoint/2010/main" val="7850779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36FD79-F8D8-40AE-8FDF-F1AB54D1D573}"/>
              </a:ext>
            </a:extLst>
          </p:cNvPr>
          <p:cNvCxnSpPr>
            <a:stCxn xmlns:a="http://schemas.openxmlformats.org/drawingml/2006/main" id="18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10506075" y="3067050"/>
            <a:ext cx="357188" cy="9715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B1F3A"/>
            </a:solidFill>
            <a:prstDash val="solid"/>
            <a:tailEnd type="arrow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1B8BBA-CE20-4DF1-BCBD-076B21442B5F}"/>
              </a:ext>
            </a:extLst>
          </p:cNvPr>
          <p:cNvCxnSpPr>
            <a:stCxn xmlns:a="http://schemas.openxmlformats.org/drawingml/2006/main" id="18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 flipH="1">
            <a:off x="9434513" y="3067050"/>
            <a:ext cx="1071563" cy="9715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B1F3A"/>
            </a:solidFill>
            <a:prstDash val="solid"/>
            <a:tailEnd type="arrow" w="sm" len="sm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3565F5-5D6D-469A-A99E-CD1E514A042B}"/>
              </a:ext>
            </a:extLst>
          </p:cNvPr>
          <p:cNvCxnSpPr>
            <a:stCxn xmlns:a="http://schemas.openxmlformats.org/drawingml/2006/main" id="18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 flipH="1">
            <a:off x="7896225" y="3067050"/>
            <a:ext cx="2609850" cy="9715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B1F3A"/>
            </a:solidFill>
            <a:prstDash val="solid"/>
            <a:tailEnd type="arrow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56C5D6-1B0A-4BF1-8C07-EC5CA02BBA4C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153525" y="2705100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B1F3A"/>
            </a:solidFill>
            <a:prstDash val="solid"/>
            <a:tailEnd type="arrow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BED41E-5D7D-4202-80B1-3971F3AA3762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124700" y="27051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B1F3A"/>
            </a:solidFill>
            <a:prstDash val="solid"/>
            <a:tailEnd type="arrow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02C7F3-792A-4B97-BF19-615F83832848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810125" y="27051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B1F3A"/>
            </a:solidFill>
            <a:prstDash val="solid"/>
            <a:tailEnd type="arrow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C8821B-C25B-49CA-B467-E87023994207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590800" y="27051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B1F3A"/>
            </a:solidFill>
            <a:prstDash val="solid"/>
            <a:tailEnd type="arrow" w="sm" len="sm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5F3E80-4E27-4F38-B50F-D89A37BD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04 /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E0715F-1AE1-4823-894E-97DB993E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29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CRUDoshleps · ИТМО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ABEE08-DED3-4903-8295-A4BF4FB6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3CE57D-D3AE-418C-A910-8BDFF7DC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6AD421-2FEC-4FD7-B04F-9B2D9FC3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6477000"/>
            <a:ext cx="323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GoodsAI · продуктовый чекпоинт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B86F30-4606-48FF-A27D-B5A2D1C9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104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DCEE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ADFC55-6057-491F-A99A-C7CA0F0D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14400"/>
            <a:ext cx="895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0B1F3A"/>
                </a:solidFill>
                <a:latin typeface="Menlo"/>
                <a:ea typeface="Menlo"/>
                <a:cs typeface="Menlo"/>
              </a:rPr>
              <a:t>ВОПРОС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9AE91D-B304-4629-AD6C-2240F7CE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Demand-Aware Evidence Cascade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8412E9-BF4E-468F-AD09-6C4EE660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Каскад качества, риска и стоимости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249E5E-7F74-413C-95D7-C661C294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905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06252C-7173-4C1D-8756-C64BDE26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Карточка товара</a:t>
            </a:r>
          </a:p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title + description + seller fields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47C756-4A4D-4A91-A43A-7CD38A88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43150"/>
            <a:ext cx="17621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0FFB99-C938-4B28-A796-600BE030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76500"/>
            <a:ext cx="1495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Rules и словари</a:t>
            </a:r>
          </a:p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regex, бренды, единицы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B30E51-2DD5-432E-BA78-E72DF655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343150"/>
            <a:ext cx="185737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E13B36-B698-4270-9CE6-3CED72DB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476500"/>
            <a:ext cx="1590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Local encoder</a:t>
            </a:r>
          </a:p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кандидат-спан + confidence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E39B66-1715-40D5-A558-A1DBCC9B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43150"/>
            <a:ext cx="15716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0DF5A8-A070-491A-A621-A9FF33E2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76500"/>
            <a:ext cx="1304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LLM fallback</a:t>
            </a:r>
          </a:p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только residual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20C41D-F6D2-4C26-A179-8A593800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43150"/>
            <a:ext cx="1809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2C167A-8010-4471-93FF-0C150D00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47650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Normalizer + verifier</a:t>
            </a:r>
          </a:p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schema, evidence, conflict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1ABCB4-CA6B-4A95-8E78-9650FE5B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38600"/>
            <a:ext cx="1314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7DCE52-41DD-4AB5-99B9-B5990DE8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1719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0B1F3A"/>
                </a:solidFill>
                <a:latin typeface="Menlo"/>
                <a:ea typeface="Menlo"/>
                <a:cs typeface="Menlo"/>
              </a:rPr>
              <a:t>auto_accept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B6F2E5-C5CC-45B0-BDC6-FBAEC774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038600"/>
            <a:ext cx="10953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2D09D2-1773-4A1C-A65B-302E9CEE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171950"/>
            <a:ext cx="828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0B1F3A"/>
                </a:solidFill>
                <a:latin typeface="Menlo"/>
                <a:ea typeface="Menlo"/>
                <a:cs typeface="Menlo"/>
              </a:rPr>
              <a:t>review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34B51B-E2D2-4A11-9914-E1C5CE67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038600"/>
            <a:ext cx="10953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599043-E5AB-4462-BEF5-F01E9B08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4171950"/>
            <a:ext cx="828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0B1F3A"/>
                </a:solidFill>
                <a:latin typeface="Menlo"/>
                <a:ea typeface="Menlo"/>
                <a:cs typeface="Menlo"/>
              </a:rPr>
              <a:t>abstain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E253E7-2BA3-4E61-A687-9FCE4467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53721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9AB9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EFB8B7-9E05-45C8-B0CF-A763BD8D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ПРИОРИТИЗАЦИЯ ПО СПРОСУ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CB658F-5B0C-4E0F-9B5C-E1349ED0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0B1F3A"/>
                </a:solidFill>
                <a:latin typeface="Menlo"/>
                <a:ea typeface="Menlo"/>
                <a:cs typeface="Menlo"/>
              </a:rPr>
              <a:t>priority = спрос × доля пропусков × ожидаемая точность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AB077B-A781-43F7-B436-137AB6CC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Включается после EDA и подтверждения связи query_clicks с SKU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DB03AF-AFC6-42AA-9ED4-5855DC35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Rules закрывают очевидные форматы. LLM предлагает кандидата только для сложного остатка. Verifier принимает финальное решение.</a:t>
            </a:r>
          </a:p>
        </p:txBody>
      </p:sp>
    </p:spTree>
    <p:extLst>
      <p:ext uri="{BB962C8B-B14F-4D97-AF65-F5344CB8AC3E}">
        <p14:creationId xmlns:p14="http://schemas.microsoft.com/office/powerpoint/2010/main" val="10175059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983D75F-BD09-4146-843F-5CC9691D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05 / REVIEW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B27166-BA91-43EB-9942-88F56864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29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CRUDoshleps · ИТМО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DA9629-69BE-45C6-AEF8-B273D415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C4D23-0E9B-4717-994D-613896B8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4C75DA-B8CF-49E0-B94B-4F2EFBEF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6477000"/>
            <a:ext cx="323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GoodsAI · продуктовый чекпоинт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28339B-E2ED-44A8-9FF8-C49A9868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104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DCEE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88B55-BEC3-47BD-850D-79A968EC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14400"/>
            <a:ext cx="895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0B1F3A"/>
                </a:solidFill>
                <a:latin typeface="Menlo"/>
                <a:ea typeface="Menlo"/>
                <a:cs typeface="Menlo"/>
              </a:rPr>
              <a:t>ВОПРОС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381D40-E9AC-4E93-B0A8-030AA6D1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Оператор принимает решение по доказательству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DD8EA6-4FEC-4B90-9878-F16010BF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45148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166F43-CACF-45AA-AC25-F9C8E853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КАРТОЧКА ТОВАРА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9DA525-5CE0-4639-BA5B-A5E69F0C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Смартфон Samsung Galaxy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8B2A3E-DBEE-466B-AA0A-1494581E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Описание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93D3A8-1FF8-4849-A925-35DB1DDA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43300"/>
            <a:ext cx="347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Встроенная память 256GB.</a:t>
            </a:r>
          </a:p>
          <a:p xmlns:a="http://schemas.openxmlformats.org/drawingml/2006/main">
            <a:pPr algn="l">
              <a:defRPr sz="1275" b="0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Цвет корпуса — графитовый.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EE4928-827D-4D2B-AA24-C0F5779A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14382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631EC9-E2FE-48C4-84DE-52738D10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57650"/>
            <a:ext cx="1514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002C3C-F247-4D4A-953F-723887F3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Подсвеченные фрагменты — evidence span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C121D3-048F-4C18-A9BF-A0D1AE5A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52650"/>
            <a:ext cx="60579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DD4094-7C05-43CD-86D2-128500F7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42887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АТРИБУТ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102531-1C3F-4C5F-8D37-1AE71213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428875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ЗНАЧЕНИЕ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685017-C122-4763-86F7-3032E793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28875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CONF.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326029-3D5E-4615-9B24-D508B115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28875"/>
            <a:ext cx="1285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РЕШЕНИЕ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8CDA12-BDD4-45A3-8C85-30BEE924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800350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51AB61-E556-42A8-8282-8206A7A2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962275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Объём памяти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B04308-82F8-4D55-9D3C-40080713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962275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256 ГБ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BB216A-9BEB-44E1-8C50-BBE55A05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622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0B1F3A"/>
                </a:solidFill>
                <a:latin typeface="Menlo"/>
                <a:ea typeface="Menlo"/>
                <a:cs typeface="Menlo"/>
              </a:rPr>
              <a:t>0.98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6AA1D3-AF6B-4CEE-B8EF-49F3EB6A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905125"/>
            <a:ext cx="1200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AEF216-92BE-46B1-88E6-917ABD32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981325"/>
            <a:ext cx="1047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ctr">
              <a:defRPr sz="675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675" b="1">
                <a:solidFill>
                  <a:srgbClr val="0B1F3A"/>
                </a:solidFill>
                <a:latin typeface="Menlo"/>
                <a:ea typeface="Menlo"/>
                <a:cs typeface="Menlo"/>
              </a:rPr>
              <a:t>AUTO ACCEPT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8A9E4B-5987-4BDA-8EE3-89822011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400425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ACE724-5BE8-477D-943B-DA4FFE51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56235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Цвет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9AF992-6099-48A6-85C8-B2F4F387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6235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чёрный / графитовый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65DE92-EA46-42F7-A8C3-176E01B1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623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0B1F3A"/>
                </a:solidFill>
                <a:latin typeface="Menlo"/>
                <a:ea typeface="Menlo"/>
                <a:cs typeface="Menlo"/>
              </a:rPr>
              <a:t>0.71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BEAC5B-AD9B-4C02-BC43-3A8552BC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505200"/>
            <a:ext cx="1200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5F901D-B1D9-46E9-A702-2903B9FB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581400"/>
            <a:ext cx="1047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ctr">
              <a:defRPr sz="675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675" b="1">
                <a:solidFill>
                  <a:srgbClr val="0B1F3A"/>
                </a:solidFill>
                <a:latin typeface="Menlo"/>
                <a:ea typeface="Menlo"/>
                <a:cs typeface="Menlo"/>
              </a:rPr>
              <a:t>REVIEW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0BDD28-7005-4147-A150-ABE13A74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000500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15C5A9-1C3B-4AEC-9BE9-7E867FC7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162425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Батарея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DC5E41-380A-4C88-A5A7-6885B16B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162425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—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D4D148-BB46-4479-AD93-1E77ACDB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6242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0B1F3A"/>
                </a:solidFill>
                <a:latin typeface="Menlo"/>
                <a:ea typeface="Menlo"/>
                <a:cs typeface="Menlo"/>
              </a:rPr>
              <a:t>—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7201A4-021E-489E-B2EC-8AF7EE5B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4105275"/>
            <a:ext cx="1200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FE0DE7-8750-444E-9B28-7998F444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181475"/>
            <a:ext cx="1047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ctr">
              <a:defRPr sz="675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675" b="1">
                <a:solidFill>
                  <a:srgbClr val="0B1F3A"/>
                </a:solidFill>
                <a:latin typeface="Menlo"/>
                <a:ea typeface="Menlo"/>
                <a:cs typeface="Menlo"/>
              </a:rPr>
              <a:t>ABSTAIN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4E6548-B921-4D4E-AA55-C5C163C7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876800"/>
            <a:ext cx="1485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8F5FF65-A060-45B8-8CA8-1EF6C44B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981575"/>
            <a:ext cx="14859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ctr">
              <a:defRPr sz="750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0B1F3A"/>
                </a:solidFill>
                <a:latin typeface="Menlo"/>
                <a:ea typeface="Menlo"/>
                <a:cs typeface="Menlo"/>
              </a:rPr>
              <a:t>ПРИНЯТЬ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251EDC-7C03-4DD4-A071-03112FAC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876800"/>
            <a:ext cx="1485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851D198-A903-468B-BCA5-8EFFE52C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981575"/>
            <a:ext cx="14859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ctr">
              <a:defRPr sz="750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0B1F3A"/>
                </a:solidFill>
                <a:latin typeface="Menlo"/>
                <a:ea typeface="Menlo"/>
                <a:cs typeface="Menlo"/>
              </a:rPr>
              <a:t>ИСПРАВИТЬ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94EA57D-1D59-4B88-ACBA-7C9C06AE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876800"/>
            <a:ext cx="1485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55F7D4E-85F0-486F-8A7C-458AFEF0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981575"/>
            <a:ext cx="14859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ctr">
              <a:defRPr sz="750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0B1F3A"/>
                </a:solidFill>
                <a:latin typeface="Menlo"/>
                <a:ea typeface="Menlo"/>
                <a:cs typeface="Menlo"/>
              </a:rPr>
              <a:t>ОТКЛОНИТЬ</a:t>
            </a:r>
          </a:p>
        </p:txBody>
      </p:sp>
    </p:spTree>
    <p:extLst>
      <p:ext uri="{BB962C8B-B14F-4D97-AF65-F5344CB8AC3E}">
        <p14:creationId xmlns:p14="http://schemas.microsoft.com/office/powerpoint/2010/main" val="16054445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7C4EF8-14BA-487B-B3DC-53BC6945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06 /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5C4E0E-9204-4AE8-A85D-B0CD52A9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29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CRUDoshleps · ИТМО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7FFECA-B3C4-43ED-A9C1-7E3EB5A5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1AC593-022B-4788-9C29-F2A6F305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D92368-4BE0-4964-B858-46E61572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6477000"/>
            <a:ext cx="323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GoodsAI · продуктовый чекпоинт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F41576-65D2-4730-AA65-7081A783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104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DCEE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9DD8C6-BA24-425F-9B7A-8B4343F9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14400"/>
            <a:ext cx="895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0B1F3A"/>
                </a:solidFill>
                <a:latin typeface="Menlo"/>
                <a:ea typeface="Menlo"/>
                <a:cs typeface="Menlo"/>
              </a:rPr>
              <a:t>ВОПРОС 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4D4148-59FA-492A-A077-AA3DDAB0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Ценность для каталога и пользователей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75D0EA-1E25-40B8-B73C-ABA8F9A7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ПОЛЬЗОВАТЕЛЬ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DD1B4D-BC35-4D7F-AB9E-6D060C32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907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БИЗНЕС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0D3D7E-C981-42EF-8EB3-DA8223CF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6FEBF6-1FF0-40EB-B685-29775BD6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7650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29CFC5-C1FE-4EC5-ACCF-DF8C4B37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A40C5A-33EB-4B56-9105-4E7ABBAE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421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Оператор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C2E26C-22D8-47DF-95EA-F67A4125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21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Получает значение, источник и готовое решение для review.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603500-1D98-4C94-803A-A8BB72E6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5D3F2F-EA9A-4101-8894-F46A951B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421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Продавец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523162-046B-4EF9-AE3F-A0C9C668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421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Видит пропуски и конфликты, которые мешают качеству карточки.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65F65E-ADB5-4C04-B5DF-75EF1669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AA4B6E-067A-46B0-B1FC-E89255EF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421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Покупатель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61C90D-F274-4297-B0E0-3E183932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421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Находит больше релевантных SKU через поиск и фильтры.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DAFFB1-4D8C-42BF-80E0-42FF8540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24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00F119-5F57-46B7-BDC9-FD7ACFBB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57500"/>
            <a:ext cx="3924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Каталог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852968-24D0-4ABB-A9E8-A753D7DA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24200"/>
            <a:ext cx="3924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Получает нормализованные поля для поиска, сравнения и рекомендаций.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1196E2-B0D7-4B6E-9650-861AF60F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81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9D7253-0045-4AAD-8695-706700EE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14750"/>
            <a:ext cx="3924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Операции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1D7658-E668-4CA5-A4E3-36BB15EC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81450"/>
            <a:ext cx="3924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Управляют review-нагрузкой и стоимостью на объём SKU.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D4A562-B084-41DC-A713-989F8D63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86300"/>
            <a:ext cx="44767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DCEE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A6A20D-2644-4ED5-BAE2-5672A22D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76800"/>
            <a:ext cx="2667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0B1F3A"/>
                </a:solidFill>
                <a:latin typeface="Menlo"/>
                <a:ea typeface="Menlo"/>
                <a:cs typeface="Menlo"/>
              </a:rPr>
              <a:t>SELLER QUALITY SCORE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74E763-7D26-4EFE-A0BD-5E969650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81600"/>
            <a:ext cx="3857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Пустые обязательные поля · конфликты · операторские исправления</a:t>
            </a:r>
          </a:p>
        </p:txBody>
      </p:sp>
    </p:spTree>
    <p:extLst>
      <p:ext uri="{BB962C8B-B14F-4D97-AF65-F5344CB8AC3E}">
        <p14:creationId xmlns:p14="http://schemas.microsoft.com/office/powerpoint/2010/main" val="17106987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37BD92-059A-449F-B29A-8C32D405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07 / MEASUREMENT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8C051F-AB60-4D7E-963B-BB8D82E8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29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CRUDoshleps · ИТМО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2E12DF-2ABC-4F2D-8073-37F72DAF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6107D0-B750-4901-9D2C-14537764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20ED60-DE02-43CB-BDFF-570F242A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6477000"/>
            <a:ext cx="323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GoodsAI · продуктовый чекпоинт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B4625D-AD1E-464D-A202-039339F4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104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DCEE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BD6B4D-7B10-4B72-A648-88054048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14400"/>
            <a:ext cx="895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0B1F3A"/>
                </a:solidFill>
                <a:latin typeface="Menlo"/>
                <a:ea typeface="Menlo"/>
                <a:cs typeface="Menlo"/>
              </a:rPr>
              <a:t>ВОПРОС 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ED10B7-B926-446E-BAFF-637FA515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Полезное качество каталога измеряется в срезах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1977AD-A4A2-4CA4-A273-84689775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3143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9AB9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C3CB08-F3D7-4618-879C-FB6576FA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F1 по атрибутам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4CD1DD-F488-4EE4-8A8C-90B67F2F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9557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Точность и полнота отдельно для каждого поля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76DE6A-44FA-4E6D-BB35-7F08D516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66950"/>
            <a:ext cx="3143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9AB9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CE7FE6-5B3B-4630-9AC8-8AAECEC0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0030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Valid coverage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0B2365-969A-4099-931F-B5EEACD8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9557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Доля валидно заполненных обязательных полей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67FBD2-86FB-4A71-9250-E1A6164E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66950"/>
            <a:ext cx="3143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9AB9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94BFCD-4E25-44FB-B39D-45CC4361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0030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Precision auto_accept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15E064-1F0B-443E-8260-84F3E09B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9557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Безопасность автоматически принятых значений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68F580-1CCE-4B49-9ACF-0B5AB35B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3143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9AB9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F5A654-2E0F-42B5-962D-F140370E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Review / abstain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DDEEF1-2B02-4F05-A4FC-7C18C093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Нагрузка оператора и честные отказы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978AFC-47E8-4AB1-A1A8-31EE9160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71850"/>
            <a:ext cx="3143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9AB9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D0531B-A352-4909-B649-FD3BBD26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50520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LLM calls / 1 000 SKU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37CAC5-7C42-43E4-B66D-4B8E7CDE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0047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Доля дорогой обработки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6707D7-6E60-45B9-99CB-35E0BBEB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371850"/>
            <a:ext cx="3143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9AB9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905525-883B-4E26-B607-85D9BEB2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0520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Cost / 1 000 SKU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907BDE-DAF2-4D8F-94DD-EAF23BAD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0047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Вычисления, LLM и ручная проверка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DA185E-6E08-4F1E-9172-5CC3B52D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1155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9AB9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D02C6B-C226-4F49-AF7F-9C338F40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720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Срезы: атрибут · категория · частота значения · продавец · источник текста · маршрут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77EC46-B1AD-46DF-A020-A890EA5E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0B1F3A"/>
                </a:solidFill>
                <a:latin typeface="Menlo"/>
                <a:ea typeface="Menlo"/>
                <a:cs typeface="Menlo"/>
              </a:rPr>
              <a:t>traffic-weighted quality = Σ(weight × quality) / Σ(weight)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2EB110-D43B-49E6-9DA6-961E7C81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791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Вес появится после EDA query_clicks</a:t>
            </a:r>
          </a:p>
        </p:txBody>
      </p:sp>
    </p:spTree>
    <p:extLst>
      <p:ext uri="{BB962C8B-B14F-4D97-AF65-F5344CB8AC3E}">
        <p14:creationId xmlns:p14="http://schemas.microsoft.com/office/powerpoint/2010/main" val="19869198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E9D00C-FECA-41D2-B5B7-C8DFBBD5881E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782175" y="262890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B1F3A"/>
            </a:solidFill>
            <a:prstDash val="solid"/>
            <a:tailEnd type="arrow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8B9F82-AE93-49A7-AF75-53FB2D4A324F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058150" y="262890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B1F3A"/>
            </a:solidFill>
            <a:prstDash val="solid"/>
            <a:tailEnd type="arrow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AE868C-EE60-455E-A51E-D03661761049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981700" y="262890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B1F3A"/>
            </a:solidFill>
            <a:prstDash val="solid"/>
            <a:tailEnd type="arrow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300BF7-4E86-4193-92FF-6C6D89B31369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857625" y="262890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B1F3A"/>
            </a:solidFill>
            <a:prstDash val="solid"/>
            <a:tailEnd type="arrow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09A4B9-36B7-461D-A292-D4CE908E0C3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114550" y="262890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B1F3A"/>
            </a:solidFill>
            <a:prstDash val="solid"/>
            <a:tailEnd type="arrow" w="sm" len="sm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0DBBE4-9413-478D-8C11-E5A80D17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08 / RISK AND COST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AA21CC-15D9-4D91-A4EE-C70A5F8D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29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CRUDoshleps · ИТМО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F0BE1-09D5-4DAB-8688-AD6DA401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399983-6E88-4B2F-BE34-8A07F54A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B24CB1-1A53-4F41-83B1-8B1A0AA0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6477000"/>
            <a:ext cx="323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GoodsAI · продуктовый чекпоинт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FCB64-4C8C-4D08-9129-66F97457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Стоимость и риск управляются маршрутизацией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07C3D2-D876-433B-8E15-61564258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504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029E83-D249-4878-8584-D4016ACB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0B1F3A"/>
                </a:solidFill>
                <a:latin typeface="Menlo"/>
                <a:ea typeface="Menlo"/>
                <a:cs typeface="Menlo"/>
              </a:rPr>
              <a:t>1 000 SKU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BCC038-0F22-4FAD-AD0A-534D7F5D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362200"/>
            <a:ext cx="1238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2A3C9B-EF7E-43EC-9059-BC7157FF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49555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0B1F3A"/>
                </a:solidFill>
                <a:latin typeface="Menlo"/>
                <a:ea typeface="Menlo"/>
                <a:cs typeface="Menlo"/>
              </a:rPr>
              <a:t>Rules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1CC5C2-22A9-4799-944E-E06AF7B7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62200"/>
            <a:ext cx="1619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1A2BDC-7C85-42AD-A42A-C137C905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955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0B1F3A"/>
                </a:solidFill>
                <a:latin typeface="Menlo"/>
                <a:ea typeface="Menlo"/>
                <a:cs typeface="Menlo"/>
              </a:rPr>
              <a:t>Local encoder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CF78BD-8973-4EA6-8631-2D567DB6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362200"/>
            <a:ext cx="15716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0CEC47-72F2-4919-BBB9-DB2ABE16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495550"/>
            <a:ext cx="1304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0B1F3A"/>
                </a:solidFill>
                <a:latin typeface="Menlo"/>
                <a:ea typeface="Menlo"/>
                <a:cs typeface="Menlo"/>
              </a:rPr>
              <a:t>LLM residual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390305-DDA7-4E69-A960-92245F2C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362200"/>
            <a:ext cx="12192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52218E-43A2-4FF5-B4C2-8629FF3E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4955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0B1F3A"/>
                </a:solidFill>
                <a:latin typeface="Menlo"/>
                <a:ea typeface="Menlo"/>
                <a:cs typeface="Menlo"/>
              </a:rPr>
              <a:t>Verifier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3ACE90-5889-4A3E-BE09-D33CE838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62200"/>
            <a:ext cx="1123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F2E702-6576-492A-85AC-E34B52DD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4955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0B1F3A"/>
                </a:solidFill>
                <a:latin typeface="Menlo"/>
                <a:ea typeface="Menlo"/>
                <a:cs typeface="Menlo"/>
              </a:rPr>
              <a:t>Решение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901009-B8B4-40D9-87FB-61068843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РИСК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327A7B-D79A-426D-BE58-3F5C5691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766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ЗАЩИТА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BB2E7F-F5F2-4B84-9DFE-B741DFEA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904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B63BB1-D322-4117-8DAE-01DD4E9C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Галлюцинация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AB16FD-D34F-4878-8878-8046BE3C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67150"/>
            <a:ext cx="581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JSON schema + evidence span + verifier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E287C1-08A8-4FDD-BC6F-19AE30B5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904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D38F7C-CA78-424B-A3CB-26380BD9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Конфликт источников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92D79F-A66E-43BF-8E03-BB8B93EF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267200"/>
            <a:ext cx="581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Review вместо автоматической записи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6BE2D9-F2FB-46E8-B4A4-E6E97075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904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041F83-76F1-435A-930A-D062FC52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Разные форматы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4BB013-0B85-41C8-9163-BD3CFA3A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667250"/>
            <a:ext cx="581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Unit normalizer и словари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815D20-1CCE-4074-B6A2-F86DE9FD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2525"/>
            <a:ext cx="904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CC1851-052D-411D-983B-A0DA7B0C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Рост затрат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B9C6BB-2330-424A-AFA3-BC1E34A0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67300"/>
            <a:ext cx="581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Каскад, cache и cost cap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F62330-8841-476D-AECE-41E71273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904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DCEE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6086FD3-C06D-4EF0-8B59-D868A5BF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43575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0B1F3A"/>
                </a:solidFill>
                <a:latin typeface="Menlo"/>
                <a:ea typeface="Menlo"/>
                <a:cs typeface="Menlo"/>
              </a:rPr>
              <a:t>cost_1000 = local_compute + LLM calls × cost_per_call + review_minutes × operator_rate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69EDC5-8648-4405-ACF4-0382E624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72452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Числа появятся после EDA и доступа к модели</a:t>
            </a:r>
          </a:p>
        </p:txBody>
      </p:sp>
    </p:spTree>
    <p:extLst>
      <p:ext uri="{BB962C8B-B14F-4D97-AF65-F5344CB8AC3E}">
        <p14:creationId xmlns:p14="http://schemas.microsoft.com/office/powerpoint/2010/main" val="16685595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035442-2D37-4DA0-8C1C-5884A879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09 / RESEARCH BASIS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68AE73-20CF-4688-BF32-07AB494A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29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CRUDoshleps · ИТМО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CF2F6A-1FDE-4B4A-90FC-B5DBAE3D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74FF22-0348-48AD-AFA5-51A95508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9FEE20-C5DE-4AAA-AC49-A0448CF6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6477000"/>
            <a:ext cx="323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GoodsAI · продуктовый чекпоинт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828267-3630-4C33-BA29-58130DBA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Научная опора архитектуры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EC859D-632C-4A20-990A-6C24C1F8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F7967F-508E-4E9B-B962-B6B5BB2B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288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Ask-and-Verify · EMNLP Industry 2022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D48BB7-C1DD-453E-9D72-3FA2AAEE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28850"/>
            <a:ext cx="423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Candidate span и независимая проверка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F8ED14-636B-46FB-9360-3EBEB3C7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177662-EE4A-4744-A75B-107AF797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E2A5F3-CA85-4448-BD4D-10534221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718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Explicit Attribute Extraction · ECNLP 2024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238D87-878F-46B5-830A-5F5388C0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71800"/>
            <a:ext cx="423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Нормализация и атрибуты для e-commerce поиска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AE3C40-BF51-4FF3-A8FF-410ED164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E2A788-3290-49D3-8696-F4C46D30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29EA85-15B4-4069-B1D2-123FAB0F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147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FrugalGPT · 2023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5E4E7B-5B00-42EC-91CD-A0530A14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14750"/>
            <a:ext cx="423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Каскад более дорогих моделей для сложных случаев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E1E375-EE5D-48AA-AB5E-ECC391D1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511BB6-016B-4A69-AAE4-096D18AF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BB09A2-949B-44D9-A9DB-DAE77A96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57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OpenTag · KDD 2018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F4E631-C7BE-4F0E-8C9A-6A910463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57700"/>
            <a:ext cx="423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Active learning для сомнительных примеров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74FC25-F91B-4E5B-81FA-3C5EC3DA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02A1D9-EAB4-480E-B267-77B82296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990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DCEE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981520-3CC3-4E91-B60E-6DBBB35C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53075"/>
            <a:ext cx="9239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Исследования обосновывают архитектуру. Метрики GoodsAI считаем на датасете кейса.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3BAE77-3D94-4A21-9943-2AC2C02A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7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Ссылки: aclanthology.org/2022.emnlp-industry.9 · aclanthology.org/2024.ecnlp-1.13 · arxiv.org/abs/2305.05176 · amazon.science/publications/opentag-open-attribute-extraction-from-product-profiles</a:t>
            </a:r>
          </a:p>
        </p:txBody>
      </p:sp>
    </p:spTree>
    <p:extLst>
      <p:ext uri="{BB962C8B-B14F-4D97-AF65-F5344CB8AC3E}">
        <p14:creationId xmlns:p14="http://schemas.microsoft.com/office/powerpoint/2010/main" val="8567104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8867BF-6087-4445-ADFA-361A7A41C5D4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524750" y="26670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B1F3A"/>
            </a:solidFill>
            <a:prstDash val="solid"/>
            <a:tailEnd type="arrow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BB578D-637F-4502-BEC6-E33E6B1A1FBC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715000" y="26670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B1F3A"/>
            </a:solidFill>
            <a:prstDash val="solid"/>
            <a:tailEnd type="arrow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101CF2-A705-426E-B9F3-8D83B5C29455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905250" y="26670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B1F3A"/>
            </a:solidFill>
            <a:prstDash val="solid"/>
            <a:tailEnd type="arrow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90CF2A-A0E9-440B-8719-1C311E781960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095500" y="26670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B1F3A"/>
            </a:solidFill>
            <a:prstDash val="solid"/>
            <a:tailEnd type="arrow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D3AA0D-4839-457D-AB14-CBF52411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10 /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72AF72-A447-4A6E-AB80-F851D96A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29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CRUDoshleps · ИТМО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6019BA-DB29-4CE2-806A-6A262A2F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DD834-5E37-4C6B-A498-1AC80510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3D9BF8-3167-4FA8-AED2-351AFE28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6477000"/>
            <a:ext cx="323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GoodsAI · продуктовый чекпоинт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B43A3B-48F7-493E-9424-757D95FE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Путь к воспроизводимому MVP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A27FE4-C98E-45BC-BAC1-5E33319C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4859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EA9777-93C6-4233-B205-86F2FA5A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121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0B1F3A"/>
                </a:solidFill>
                <a:latin typeface="Menlo"/>
                <a:ea typeface="Menlo"/>
                <a:cs typeface="Menlo"/>
              </a:rPr>
              <a:t>EDA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CD8B9B-64B6-4337-A7B9-1CC41047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343150"/>
            <a:ext cx="14859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E2F2FC-702C-4631-A82F-F742D32A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76500"/>
            <a:ext cx="121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0B1F3A"/>
                </a:solidFill>
                <a:latin typeface="Menlo"/>
                <a:ea typeface="Menlo"/>
                <a:cs typeface="Menlo"/>
              </a:rPr>
              <a:t>Rules baseline</a:t>
            </a:r>
          </a:p>
          <a:p xmlns:a="http://schemas.openxmlformats.org/drawingml/2006/main">
            <a: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0B1F3A"/>
                </a:solidFill>
                <a:latin typeface="Menlo"/>
                <a:ea typeface="Menlo"/>
                <a:cs typeface="Menlo"/>
              </a:rPr>
              <a:t>+ normalizer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C6FE20-8CCB-4893-9883-56227DDF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43150"/>
            <a:ext cx="14859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5AB454-BBE7-4FED-B048-483E0470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76500"/>
            <a:ext cx="121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0B1F3A"/>
                </a:solidFill>
                <a:latin typeface="Menlo"/>
                <a:ea typeface="Menlo"/>
                <a:cs typeface="Menlo"/>
              </a:rPr>
              <a:t>Local encoder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D2BBDC-0624-4D1B-9A8E-0E953E24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43150"/>
            <a:ext cx="14859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FC051C-EBD9-4DB4-9E15-CB2C7426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76500"/>
            <a:ext cx="121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0B1F3A"/>
                </a:solidFill>
                <a:latin typeface="Menlo"/>
                <a:ea typeface="Menlo"/>
                <a:cs typeface="Menlo"/>
              </a:rPr>
              <a:t>LLM residual</a:t>
            </a:r>
          </a:p>
          <a:p xmlns:a="http://schemas.openxmlformats.org/drawingml/2006/main">
            <a: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0B1F3A"/>
                </a:solidFill>
                <a:latin typeface="Menlo"/>
                <a:ea typeface="Menlo"/>
                <a:cs typeface="Menlo"/>
              </a:rPr>
              <a:t>+ cost report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988E58-6B1B-4924-BB4E-DB88F98B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43150"/>
            <a:ext cx="14859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5F7988-4C9F-4F85-A88F-ACDC2914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76500"/>
            <a:ext cx="121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0B1F3A"/>
                </a:solidFill>
                <a:latin typeface="Menlo"/>
                <a:ea typeface="Menlo"/>
                <a:cs typeface="Menlo"/>
              </a:rPr>
              <a:t>Review demo</a:t>
            </a:r>
          </a:p>
          <a:p xmlns:a="http://schemas.openxmlformats.org/drawingml/2006/main">
            <a: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0B1F3A"/>
                </a:solidFill>
                <a:latin typeface="Menlo"/>
                <a:ea typeface="Menlo"/>
                <a:cs typeface="Menlo"/>
              </a:rPr>
              <a:t>+ predictions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93B8D3-0184-4124-BD4F-D39B7AA8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СТЕК MVP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FD72DB-CD5B-40E9-8699-88F5EE42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C43992-C5DC-4B4B-8E0F-ADBACCEC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11ED27-F169-4DA6-B79D-E2DAAD3A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2767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Python 3.11 · Polars · DuckDB · Jupyter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E6BB34-B8C5-40D7-B6BB-6E220C24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5772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SCHEMA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6C3ED5-5B5B-4455-8E57-9919D8CD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6291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YAML · Pydantic · regex · RapidFuzz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C9878E-8E35-49E6-B4F9-2AFA01D1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ML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E82019-6E40-493B-A4B4-81492C8A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98157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PyTorch · Transformers · русскоязычный BERT encoder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C173A9-0340-4256-A8D2-FCC85DCD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DELIVERY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14F15B-712A-44CA-BF86-E5140053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3340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JSON schema · Streamlit/HTML · pytest · GitHub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A76A5F-F19A-4C58-82D4-FAFEE08B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191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DCEE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31D26D-C8A7-4E89-A988-96E66060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34075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Повышаем полезное покрытие каталога без недоказанных значений и инференса LLM для каждой SKU</a:t>
            </a:r>
          </a:p>
        </p:txBody>
      </p:sp>
    </p:spTree>
    <p:extLst>
      <p:ext uri="{BB962C8B-B14F-4D97-AF65-F5344CB8AC3E}">
        <p14:creationId xmlns:p14="http://schemas.microsoft.com/office/powerpoint/2010/main" val="7146475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2026-10-14T20:21:58.8950000Z</dcterms:created>
  <dcterms:modified xsi:type="dcterms:W3CDTF">2026-10-14T20:21:58.8950000Z</dcterms:modified>
</coreProperties>
</file>