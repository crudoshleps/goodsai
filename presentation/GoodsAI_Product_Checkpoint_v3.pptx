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9a1c8a059e4fc0" /><Relationship Type="http://schemas.openxmlformats.org/officeDocument/2006/relationships/extended-properties" Target="/docProps/app.xml" Id="R75ab802557a841fb" /><Relationship Type="http://schemas.openxmlformats.org/officeDocument/2006/relationships/officeDocument" Target="/ppt/presentation.xml" Id="Rb17b5675780547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5e055bedca4900"/>
  </p:sldMasterIdLst>
  <p:notesMasterIdLst>
    <p:notesMasterId xmlns:r="http://schemas.openxmlformats.org/officeDocument/2006/relationships" r:id="R496e93b0c99d47d8"/>
  </p:notesMasterIdLst>
  <p:sldIdLst>
    <p:sldId xmlns:r="http://schemas.openxmlformats.org/officeDocument/2006/relationships" id="256" r:id="R017ac861a1b14b84"/>
    <p:sldId xmlns:r="http://schemas.openxmlformats.org/officeDocument/2006/relationships" id="257" r:id="Rf089ee5e33f84ce8"/>
    <p:sldId xmlns:r="http://schemas.openxmlformats.org/officeDocument/2006/relationships" id="258" r:id="R43de17080bde4db4"/>
    <p:sldId xmlns:r="http://schemas.openxmlformats.org/officeDocument/2006/relationships" id="259" r:id="Re75013d37ca94df0"/>
    <p:sldId xmlns:r="http://schemas.openxmlformats.org/officeDocument/2006/relationships" id="260" r:id="Rba366ef8361142a6"/>
    <p:sldId xmlns:r="http://schemas.openxmlformats.org/officeDocument/2006/relationships" id="261" r:id="Ra7490301336545fa"/>
    <p:sldId xmlns:r="http://schemas.openxmlformats.org/officeDocument/2006/relationships" id="262" r:id="R7d3ed44b3b254c4f"/>
    <p:sldId xmlns:r="http://schemas.openxmlformats.org/officeDocument/2006/relationships" id="263" r:id="R9a3b6ef0917247b5"/>
    <p:sldId xmlns:r="http://schemas.openxmlformats.org/officeDocument/2006/relationships" id="264" r:id="R49db5c49617749c9"/>
    <p:sldId xmlns:r="http://schemas.openxmlformats.org/officeDocument/2006/relationships" id="265" r:id="R152f86ed34e54d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619f44fabe4bb6" /><Relationship Type="http://schemas.openxmlformats.org/officeDocument/2006/relationships/slideMaster" Target="/ppt/slideMasters/slideMaster1.xml" Id="R8a5e055bedca4900" /><Relationship Type="http://schemas.openxmlformats.org/officeDocument/2006/relationships/notesMaster" Target="/ppt/notesMasters/notesMaster1.xml" Id="R496e93b0c99d47d8" /><Relationship Type="http://schemas.openxmlformats.org/officeDocument/2006/relationships/presProps" Target="/ppt/presProps.xml" Id="R40996b1fd6fe47c4" /><Relationship Type="http://schemas.openxmlformats.org/officeDocument/2006/relationships/tableStyles" Target="/ppt/tableStyles.xml" Id="Reb8fc12ef12b41bf" /><Relationship Type="http://schemas.openxmlformats.org/officeDocument/2006/relationships/slide" Target="/ppt/slides/slide1.xml" Id="R017ac861a1b14b84" /><Relationship Type="http://schemas.openxmlformats.org/officeDocument/2006/relationships/slide" Target="/ppt/slides/slide2.xml" Id="Rf089ee5e33f84ce8" /><Relationship Type="http://schemas.openxmlformats.org/officeDocument/2006/relationships/slide" Target="/ppt/slides/slide3.xml" Id="R43de17080bde4db4" /><Relationship Type="http://schemas.openxmlformats.org/officeDocument/2006/relationships/slide" Target="/ppt/slides/slide4.xml" Id="Re75013d37ca94df0" /><Relationship Type="http://schemas.openxmlformats.org/officeDocument/2006/relationships/slide" Target="/ppt/slides/slide5.xml" Id="Rba366ef8361142a6" /><Relationship Type="http://schemas.openxmlformats.org/officeDocument/2006/relationships/slide" Target="/ppt/slides/slide6.xml" Id="Ra7490301336545fa" /><Relationship Type="http://schemas.openxmlformats.org/officeDocument/2006/relationships/slide" Target="/ppt/slides/slide7.xml" Id="R7d3ed44b3b254c4f" /><Relationship Type="http://schemas.openxmlformats.org/officeDocument/2006/relationships/slide" Target="/ppt/slides/slide8.xml" Id="R9a3b6ef0917247b5" /><Relationship Type="http://schemas.openxmlformats.org/officeDocument/2006/relationships/slide" Target="/ppt/slides/slide9.xml" Id="R49db5c49617749c9" /><Relationship Type="http://schemas.openxmlformats.org/officeDocument/2006/relationships/slide" Target="/ppt/slides/slide10.xml" Id="R152f86ed34e54d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87b4c4997c45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04e514b6734560" /><Relationship Type="http://schemas.openxmlformats.org/officeDocument/2006/relationships/notesMaster" Target="/ppt/notesMasters/notesMaster1.xml" Id="R4f498163bce342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0ede6b4a644f03" /><Relationship Type="http://schemas.openxmlformats.org/officeDocument/2006/relationships/notesMaster" Target="/ppt/notesMasters/notesMaster1.xml" Id="R2e5fb691f53445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150de18ed643d1" /><Relationship Type="http://schemas.openxmlformats.org/officeDocument/2006/relationships/notesMaster" Target="/ppt/notesMasters/notesMaster1.xml" Id="Rd4f123ce4dde49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c36ec7e98d47bb" /><Relationship Type="http://schemas.openxmlformats.org/officeDocument/2006/relationships/notesMaster" Target="/ppt/notesMasters/notesMaster1.xml" Id="R13d18699bfaa40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f40ab2afd14fa1" /><Relationship Type="http://schemas.openxmlformats.org/officeDocument/2006/relationships/notesMaster" Target="/ppt/notesMasters/notesMaster1.xml" Id="R663fcdd9fa2042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b6d697946a4d69" /><Relationship Type="http://schemas.openxmlformats.org/officeDocument/2006/relationships/notesMaster" Target="/ppt/notesMasters/notesMaster1.xml" Id="Rf2408ddb25174d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2f42f0792c43ae" /><Relationship Type="http://schemas.openxmlformats.org/officeDocument/2006/relationships/notesMaster" Target="/ppt/notesMasters/notesMaster1.xml" Id="R3135adae93e242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4b62bb189e428c" /><Relationship Type="http://schemas.openxmlformats.org/officeDocument/2006/relationships/notesMaster" Target="/ppt/notesMasters/notesMaster1.xml" Id="R21ab5b156ef244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7469a82b5a4c78" /><Relationship Type="http://schemas.openxmlformats.org/officeDocument/2006/relationships/notesMaster" Target="/ppt/notesMasters/notesMaster1.xml" Id="R53bdb013961147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de8782242443e6" /><Relationship Type="http://schemas.openxmlformats.org/officeDocument/2006/relationships/notesMaster" Target="/ppt/notesMasters/notesMaster1.xml" Id="R2534f580902c45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56e42b52324f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72bad175c49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01a594bc14c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165fa0e6f34f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0fef871fda46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3002361934a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9E1BC2-5702-44E1-9B40-F893593B4A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52C71A-B215-4EB9-A990-7C9488DBBE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6CC96E-5AD0-4276-BB93-BDB723153E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D49195-DE8D-4F00-9A85-798D9BAD71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FDE986-FB6F-426C-AFF1-BE344A0C63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CCA870-DBCF-4615-AF41-81F7EBD37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41D2C2-7E2E-4FA0-B8CB-6CB58DC705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0DEF95A-6855-4169-99F2-6957A6CF8B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DC45DA-5D3D-4AB4-8180-4BAC7E051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32BCC3-8E4B-40E3-845C-D95B3F6380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979db2a6df471f" /><Relationship Type="http://schemas.openxmlformats.org/officeDocument/2006/relationships/slideLayout" Target="/ppt/slideLayouts/slideLayout1.xml" Id="Rf489d8ea34cc4b5d" /><Relationship Type="http://schemas.openxmlformats.org/officeDocument/2006/relationships/slideLayout" Target="/ppt/slideLayouts/slideLayout2.xml" Id="R914f8e749213446c" /><Relationship Type="http://schemas.openxmlformats.org/officeDocument/2006/relationships/slideLayout" Target="/ppt/slideLayouts/slideLayout3.xml" Id="Ra4076503e38047a4" /><Relationship Type="http://schemas.openxmlformats.org/officeDocument/2006/relationships/slideLayout" Target="/ppt/slideLayouts/slideLayout4.xml" Id="Rb259926f1f1144f7" /><Relationship Type="http://schemas.openxmlformats.org/officeDocument/2006/relationships/slideLayout" Target="/ppt/slideLayouts/slideLayout5.xml" Id="R7174a24a1e7e4805" /><Relationship Type="http://schemas.openxmlformats.org/officeDocument/2006/relationships/slideLayout" Target="/ppt/slideLayouts/slideLayout6.xml" Id="R4533038745dc44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9d8ea34cc4b5d"/>
    <p:sldLayoutId xmlns:r="http://schemas.openxmlformats.org/officeDocument/2006/relationships" id="2147483650" r:id="R914f8e749213446c"/>
    <p:sldLayoutId xmlns:r="http://schemas.openxmlformats.org/officeDocument/2006/relationships" id="2147483651" r:id="Ra4076503e38047a4"/>
    <p:sldLayoutId xmlns:r="http://schemas.openxmlformats.org/officeDocument/2006/relationships" id="2147483652" r:id="Rb259926f1f1144f7"/>
    <p:sldLayoutId xmlns:r="http://schemas.openxmlformats.org/officeDocument/2006/relationships" id="2147483653" r:id="R7174a24a1e7e4805"/>
    <p:sldLayoutId xmlns:r="http://schemas.openxmlformats.org/officeDocument/2006/relationships" id="2147483654" r:id="R4533038745dc44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954bb907d940d6" /><Relationship Type="http://schemas.openxmlformats.org/officeDocument/2006/relationships/notesSlide" Target="/ppt/notesSlides/notesSlide1.xml" Id="R6258b3fa12a940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de78cebc0447bf" /><Relationship Type="http://schemas.openxmlformats.org/officeDocument/2006/relationships/notesSlide" Target="/ppt/notesSlides/notesSlide2.xml" Id="Ra905b82cf2c64b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f7497363fb4f11" /><Relationship Type="http://schemas.openxmlformats.org/officeDocument/2006/relationships/notesSlide" Target="/ppt/notesSlides/notesSlide3.xml" Id="R59f366a3980946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455647437b4b09" /><Relationship Type="http://schemas.openxmlformats.org/officeDocument/2006/relationships/notesSlide" Target="/ppt/notesSlides/notesSlide4.xml" Id="R9362191325c641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ec6b780f414df0" /><Relationship Type="http://schemas.openxmlformats.org/officeDocument/2006/relationships/notesSlide" Target="/ppt/notesSlides/notesSlide5.xml" Id="Rb2bd697e73844f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f74a7c379d4eb3" /><Relationship Type="http://schemas.openxmlformats.org/officeDocument/2006/relationships/notesSlide" Target="/ppt/notesSlides/notesSlide6.xml" Id="R88932842e5eb49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683af901b14a43" /><Relationship Type="http://schemas.openxmlformats.org/officeDocument/2006/relationships/notesSlide" Target="/ppt/notesSlides/notesSlide7.xml" Id="Rf807579a31f84a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84cd98e2534dea" /><Relationship Type="http://schemas.openxmlformats.org/officeDocument/2006/relationships/notesSlide" Target="/ppt/notesSlides/notesSlide8.xml" Id="R3f342a71ab9b48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024bfd7e514f25" /><Relationship Type="http://schemas.openxmlformats.org/officeDocument/2006/relationships/notesSlide" Target="/ppt/notesSlides/notesSlide9.xml" Id="R9c21e92d96dd41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800c15844a488e" /><Relationship Type="http://schemas.openxmlformats.org/officeDocument/2006/relationships/notesSlide" Target="/ppt/notesSlides/notesSlide10.xml" Id="R61841bab390748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6E582-7851-4F4D-A3E5-0CD1E3E9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01 / PRODUCT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43794-C2E3-4D61-80A5-CF78BE69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156E6-3362-4C0C-8A7D-C4EC0AEC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ABD5C-8652-49DD-951B-D195F0B3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3967C-0230-449B-855F-908B964A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99123-83DB-47DD-A60D-D404814F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GoodsAI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29450-D096-496B-9367-9BCCA76C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Безопасное автозаполнение характеристик товаров для поиска и фильтров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022EA-FA8B-4639-9DF2-23B0E3F5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5CF16-6CC7-4E81-9432-ACB5D0CC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Команда CRUDoshleps · ИТМО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9D54B-3ABB-4000-A73D-B46955F2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Нестеров Владислав · Альметов Тимур</a:t>
            </a:r>
          </a:p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Алферов Глеб · Садовой Григорий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34EBE-9329-4A95-B62F-AA24EDA1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57300"/>
            <a:ext cx="45720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2B250-86EE-4BE7-B8BB-BEBBAF02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43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КАРТОЧКА ТОВАРА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A101C-70F8-4BD8-B911-D93F76F5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52625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Смартфон Samsung Galaxy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8ACDA-6D79-4E38-A895-0BBCF43E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72DEC-6A31-4529-8DC8-688B4191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Объём памяти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22616-359F-4D2A-B367-2FEA2604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256 ГБ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6C448-F705-4B37-85FC-249E96D5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238500"/>
            <a:ext cx="3619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8186C-1353-4A0F-A905-36DF284C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7185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081D1-20FF-4AAB-9BDA-4A443C52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623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«встроенная память 256GB»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C8561-C7AC-4F42-9D37-BA37BA92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7A8D1F-A4A3-45AD-9D81-8D00C528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191000"/>
            <a:ext cx="1238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AUTO ACCEPT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1CE0D4-5443-4D6F-B8DA-2B47A096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Заполняем только то, что подтверждено исходным текстом</a:t>
            </a:r>
          </a:p>
        </p:txBody>
      </p:sp>
    </p:spTree>
    <p:extLst>
      <p:ext uri="{BB962C8B-B14F-4D97-AF65-F5344CB8AC3E}">
        <p14:creationId xmlns:p14="http://schemas.microsoft.com/office/powerpoint/2010/main" val="423696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71961-32D2-4782-A959-4452591E7DC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96200" y="2838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9F7AE-4EFE-460C-91FB-39E0CAF44116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05400" y="2838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8D5E5-92E6-403F-B115-4F95F05E847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14600" y="2838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F7AA89-9FF6-40CC-9A17-8831CB04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02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B730E-8D52-4608-A2C6-7DDBA080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8C735-AD93-4898-9CA8-F770815B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7F749-D166-4DE8-BEA0-3202C633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83131-1D08-4EE5-B3C1-E51B8F7E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BF458-F230-4DD2-8563-052017B1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AE640-9050-4A53-AA32-17ECDD64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144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ВОПРОС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6F3C4-C20D-4D55-A54D-F82E9B59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Пустая характеристика выключает товар из поиска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77BEB-2EA8-41F2-A834-ED63E87F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5A9E8-D6E7-415F-8111-926E09DF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Неполная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карточка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69553-6C0D-4A07-92E3-18AB5EB1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288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CBEF0-AA5D-4C40-AC92-F736FFEC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6222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Товар не попадает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в фильтр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99FCC-A606-44D8-90BA-CD87B08A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288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31EE8-3373-4685-9A2A-0F11965E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6222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Покупатель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не находит товар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84305-CFB1-457B-B36D-7B215839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B3A35-B3FA-43B0-B0FD-680DD80D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62225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Риск снижения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CTR, конверсии, GMV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34DDE-4C21-47D1-8373-DD7B01C5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3A8527-F332-4FD6-B823-0C7B33E4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Оператор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ECD6E-467A-44E4-A6B9-FE59B866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Ищет характеристику</a:t>
            </a:r>
          </a:p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и проверяет её вручную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96873-4A9F-4B27-B68E-0AB70697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71950"/>
            <a:ext cx="95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796821-0808-457B-A27B-8791C252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71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Продавец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3C2D88-F33C-494A-A87F-40F9CB8B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76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Теряет полноту</a:t>
            </a:r>
          </a:p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карточки товара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38FA86-1FC4-4CD7-AFD8-5DA3F01A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71950"/>
            <a:ext cx="95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DE38EC-0232-4A73-84B8-DA5274F0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71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Покупатель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B070BB-7C63-42B5-B751-1CC9538F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76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Не видит подходящий</a:t>
            </a:r>
          </a:p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товар в фильтре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4A836B-342F-421A-A125-9802B57D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71950"/>
            <a:ext cx="95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9D1819-C75A-447B-9A74-D60A9B14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171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Каталог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71E8D4-5079-47FF-882A-5D8950B6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76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Получает неполные</a:t>
            </a:r>
          </a:p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и несопоставимые поля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1B5C25-DAD5-4BC0-9E69-C4D9AD4F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2467C6-31E9-4E35-91BD-0C1F167D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483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Главный пользователь MVP — оператор качества каталога</a:t>
            </a:r>
          </a:p>
        </p:txBody>
      </p:sp>
    </p:spTree>
    <p:extLst>
      <p:ext uri="{BB962C8B-B14F-4D97-AF65-F5344CB8AC3E}">
        <p14:creationId xmlns:p14="http://schemas.microsoft.com/office/powerpoint/2010/main" val="8373160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9C2082-40CB-4373-81BA-C19E542B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03 /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27483-3037-4CD7-852D-56D26D5F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E2B61-6052-4B57-97C2-0B7185CF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59BDB-AA0B-4294-B8E0-A3625FCD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83D34-26BC-4400-A4F7-F0F2AEBC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D2DEE-1D70-4CB5-9D6D-85019C75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E0B32-D257-43BB-A058-861380DC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144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ВОПРОС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18091-EBBB-4856-BFCF-7F5939EB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Ограничения кейса задают архитектуру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8429D-2739-427F-BC87-74C5D2C0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ОГРАНИЧЕНИЕ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80090-666C-4C1C-9BB1-1D7B36E0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90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ОТВЕТ GOODSAI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2EB23-A300-447D-9859-CA9DF517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F1B4D-F819-44DA-A15D-A75FEA62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Только текст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3395C-C47F-49C9-B253-73125945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title, description и поля продавца; без изображений и OCR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D3FFB-B1EC-4B24-9BF2-9DA40D67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A5D27-093F-40CC-A89F-1385B2BF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Без галлюцинаций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BC018-8299-4588-9E9B-91A29A8D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385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auto_accept требует evidence span в исходном тексте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6E8D2-85E1-4DBD-8A67-8CED0054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0A378-FBF0-49C4-812B-1456FE1F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Нормализация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28C20-460E-47AB-8540-FD113597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290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256GB, 256 Гб, 0.25 TB → 256 ГБ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1F793-4C7D-4D36-ABB3-7EE3851A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B1916-8F3A-472B-8F12-6AC0BF07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Контроль стоимости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60F0D3-D77C-42FF-84D2-B318D569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196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LLM получает только сложный остаток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C1F11-1164-4BE1-90C6-55A44826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7C44B1-725F-42B8-8851-B3D05612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Long tail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E19E27-6C4A-44DC-98EC-A639007B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101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срезы по категории, атрибуту и продавцу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07D50-EC44-4F1D-AFE9-299DFE68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9906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8CEDF6-9FE9-4FCF-AA9A-5657687D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35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Нет доказательства в тексте — abstain, а не догадка</a:t>
            </a:r>
          </a:p>
        </p:txBody>
      </p:sp>
    </p:spTree>
    <p:extLst>
      <p:ext uri="{BB962C8B-B14F-4D97-AF65-F5344CB8AC3E}">
        <p14:creationId xmlns:p14="http://schemas.microsoft.com/office/powerpoint/2010/main" val="16936062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950B27-6476-4452-906D-2F1D6182ED93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10506075" y="3067050"/>
            <a:ext cx="357188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248B2D-A985-4209-AF42-2DDA488FF287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9434513" y="3067050"/>
            <a:ext cx="1071563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318B03-3858-42C5-AA12-BC0B592F4D3E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7896225" y="3067050"/>
            <a:ext cx="260985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B458C-D61C-40E4-BF19-E4766410B15E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153525" y="270510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9B6497-A553-4455-8C91-654823DBD8F1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24700" y="27051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6E3DF4-6DA3-4AA3-96B8-85F33AC79438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10125" y="27051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E1364-2025-4695-9092-DA6B8E080CC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590800" y="27051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505169-864C-4299-A65B-2D5738F9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04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D6BB7-70DB-473B-B5FE-900F5D2E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C5926-B787-48AD-A2CD-56C03308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5BC0F-38C5-4BD2-8709-22D97609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571D5-DF4D-451F-B4AC-BDDA7093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740DD-8DDF-4762-BDAE-2BD54211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923E9-70E3-446E-BA84-0F0EF3FF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144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ВОПРОС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51D6C-0BE5-4024-B556-E433F63A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Demand-Aware Evidence Cascade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61AD4-5304-4F94-B901-EDD19D1F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Каскад качества, риска и стоимости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55E1B-E0DE-4395-91E8-3904A02C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905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8906D-F7B6-4D1C-9D41-2C5EF187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Карточка товара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title + description + seller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FDDDC-57B1-40D5-B2C0-15C7D9B7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3150"/>
            <a:ext cx="1762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22017-8AA0-4FF0-9D01-B33FE5EF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76500"/>
            <a:ext cx="1495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Rules и словари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regex, бренды, единицы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76F46-69C6-45E1-B4C0-4A657D8C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43150"/>
            <a:ext cx="185737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718F1-D239-4BB7-9C6E-093498A2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476500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Local encoder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кандидат-спан +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8BBFE-ECE7-41E9-A60F-5EBD85B7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43150"/>
            <a:ext cx="15716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B20B6-61B5-4458-9B4D-9C1ECA6B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1304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LLM fallback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только residual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FAE14-1E3E-4F06-9C6A-C6A81CE0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431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F73E6-5ACB-44A9-A774-A271812F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765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Normalizer + verifier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schema, evidence, conflict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72C9F6-6B11-4324-8BB0-DA29D360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1314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C20D6F-8073-44D0-A887-0A0A61E4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71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auto_accept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A5BB6-5A1F-4330-ACDD-AD53050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03860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292900-2913-458D-92A0-F9712D16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71950"/>
            <a:ext cx="828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202372-4F09-42E9-996C-49FD9EC5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038600"/>
            <a:ext cx="1095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CDD95F-55D6-48F8-A37B-B0850036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171950"/>
            <a:ext cx="828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abstain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AB3D98-9F15-4F77-8E19-99D54284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372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B0E929-D529-4618-8A54-97DA24C7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ПРИОРИТИЗАЦИЯ ПО СПРОСУ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CDD0A4-F35D-4B24-8045-DA52AC85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priority = спрос × доля пропусков × ожидаемая точность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E6E482-20D9-485D-9C5B-F340EEF7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Включается после EDA и подтверждения связи query_clicks с SKU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41EA99-C860-41FA-AED2-5026EFEE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Rules закрывают очевидные форматы. LLM предлагает кандидата только для сложного остатка. Verifier принимает финальное 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18394791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42E304-9AEB-4D6D-8627-1A1083C5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05 / REVIEW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C13C7-B746-4E2B-B419-3D466D6F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8FE85-D955-428C-B06B-42BD176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00E12-C9C9-4486-9D86-73F9582A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A70D1-C356-4B76-AB13-12E60834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C8943-2601-406B-B195-3B456CE6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65B84-DB40-4439-B9C4-43C1BB3C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144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ВОПРОС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10D76-639A-4076-98A7-307A1BB7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Оператор принимает решение по доказательству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0F971-F2A9-4C0D-B6B4-17E92971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5148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46F61-A32B-4BC6-8FCC-3EE0560F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КАРТОЧКА ТОВАРА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83816-9FA9-454B-A61B-9EFA97BF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Смартфон Samsung Galaxy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C1946-D046-4868-8176-35B09303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Описание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6EAF2-070C-48CE-8117-1F9FE326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Встроенная память 256GB.</a:t>
            </a:r>
          </a:p>
          <a:p xmlns:a="http://schemas.openxmlformats.org/drawingml/2006/main">
            <a:pPr algn="l">
              <a:defRPr sz="1275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Цвет корпуса — графитовый.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9FF08-8558-4AE7-95FA-CD24BF9F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438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1AEC9-E528-4CE9-8FED-C8156C5E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57650"/>
            <a:ext cx="1514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3236F-8D2C-40FB-9B03-7AA755A1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Подсвеченные фрагменты — evidence span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C4B771-0BCC-4D42-95D1-1313D94B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52650"/>
            <a:ext cx="60579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23BE3-8AF3-4CA4-BEB9-82A336AD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288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АТРИБУТ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16D2F-7A87-4FE2-A7E0-37F2DDD0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288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ЗНАЧЕНИЕ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5AEF5-F468-493F-886B-FCD99A26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CONF.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7A6B23-110E-423D-9297-E6C5FA30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2887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РЕШЕНИЕ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EF2B36-1E54-41A5-B343-B0C1E093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003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EB669-D773-46C0-A968-691F2CC9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96227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Объём памяти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4984F5-145D-405D-B0AA-9419E29E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6227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256 ГБ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7B9915-EE91-4BA7-98EB-39B08A9D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622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0.98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1AF208-465D-4682-9391-112252C2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05125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EB4D72-3C57-41D3-AC66-4D6AB118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981325"/>
            <a:ext cx="1047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AUTO ACCEPT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BB8A4-787C-43AD-9307-83AF06C1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004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644C75-67ED-4B29-9D53-ECF6D9B5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6235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Цвет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114315-6A51-4AF8-A564-5809B57B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чёрный / графитовый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A66AEA-9F69-4744-A6EF-D403848E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623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0.71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1451B6-FC40-4141-95F3-5CF1EE7E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5052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2A12BE-0700-446B-82AF-0BC80469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581400"/>
            <a:ext cx="1047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0B97B5-DE3F-4045-856C-B312EDC7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0050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B52D85-5B1D-42B4-B7FB-009A2C28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624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Батарея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039895-DFF4-4E87-B09B-8A12AD00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624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CF1FA4-A842-4C60-A0FC-6D62852F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624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991EAE-1659-4CED-AB88-4F3F1EB0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105275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7D531E-48CF-4CD9-BA69-808B31BB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181475"/>
            <a:ext cx="1047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67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ABSTAIN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E2BF41-2916-4D26-8BBB-0437E592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76800"/>
            <a:ext cx="1485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729A0F-E28A-4B7F-BFBF-A0E9D194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981575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ПРИНЯТЬ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5EF5F8-13FB-446D-9775-70140E43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76800"/>
            <a:ext cx="1485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573CEF-2DF1-4662-BAF0-71998A30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981575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ИСПРАВИТЬ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495787-A8BD-4F06-A09E-E386B7AE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876800"/>
            <a:ext cx="1485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950027-4337-4142-9319-7C276B1F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81575"/>
            <a:ext cx="148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ОТКЛОНИТЬ</a:t>
            </a:r>
          </a:p>
        </p:txBody>
      </p:sp>
    </p:spTree>
    <p:extLst>
      <p:ext uri="{BB962C8B-B14F-4D97-AF65-F5344CB8AC3E}">
        <p14:creationId xmlns:p14="http://schemas.microsoft.com/office/powerpoint/2010/main" val="341193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FDF015-6B99-43AA-857F-C08D1677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06 /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D99DF-2F86-4976-8503-187C3950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F99CB-D46E-476A-BEB2-343AE4DE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CCC1A-C468-4D07-89C2-BB893132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69D30-19CB-4E9A-A132-A787EA7A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CF760-5E40-4181-B39E-98CD9972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7A241-DD42-43DE-98FC-E97847F6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144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ВОПРОС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AB4D2-3747-42B1-91D9-26697CD8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Ценность для каталога и пользователей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B150A-0563-4A55-A72A-5AEBD9DF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ПОЛЬЗОВАТЕЛЬ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233EC-656F-43C8-83EE-619DA868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907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БИЗНЕС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531DC-00D3-4396-BC7E-4EF08323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17BA2-6B7F-4FBD-9E34-703E529E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04009-5090-406F-86D9-A84AE98E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2454D-4124-431A-8C91-8CC5C5F1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Оператор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3A8E3-52D8-4A42-9B4A-EFC5EEA3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Получает значение, источник и готовое решение для review.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44974-D352-4A07-BB9F-8843C164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FFEC7-7C63-4856-B073-916A94E2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Продавец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F5762-6EA7-4BE2-A1C5-7EF08BE4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Видит пропуски и конфликты, которые мешают качеству карточки.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80073-C7B3-4835-8D52-6536795E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90A38-8243-4C34-AF0D-255D4890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21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Покупатель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A65B1-C94D-45D1-A077-0F56B180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Находит больше релевантных SKU через поиск и фильтры.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36AAE-C2C4-4F4B-8332-E4E813DF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0C3FA8-BC4F-41AA-A5CA-0567D3DD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Каталог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C1AAB-B7A2-446C-A3F4-1614948B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Получает нормализованные поля для поиска, сравнения и рекомендаций.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01206F-C0BB-4939-BE12-800947F2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98D285-11AE-4D67-933E-1E0C6549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3924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Операции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53D392-BEC0-470A-8DA4-D8655CD8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3924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Управляют review-нагрузкой и стоимостью на объём SKU.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5338A6-8C25-4A72-8887-3654BB93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86300"/>
            <a:ext cx="4476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8C3D0E-39E4-4329-80FE-451AA1B3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266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SELLER QUALITY SCORE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1C2439-B5F5-41D0-BF6A-C6EA35B7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8160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Пустые обязательные поля · конфликты · операторские исправления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400444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52687B-4263-4A30-9D61-9AD43FF6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07 / 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CD2BA-013E-45D1-8FE7-863FD83F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EC3B7-3543-4F8F-A6EE-450FE592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54032-F9D2-4F0C-93C9-FBBC0C28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849D0-2DED-4018-8A67-209836F2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78DB1-EA56-4825-85D7-813A6052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E69EA-E7BB-4765-83DC-777F0D6D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144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ВОПРОС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0CEFA-C10C-442C-B68B-3949FEC7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Полезное качество каталога измеряется в срезах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D1B72-8490-4A05-98EF-0AC1B3FD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B795C-A6B0-4EA9-99C3-7EC48E1C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F1 по атрибутам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3F72E-A802-4675-ACC0-737E9489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Точность и полнота отдельно для каждого поля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CA569-A334-4B84-94D5-0F461CC7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49862-3BEE-4A11-ABBA-C4893D4E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003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Valid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27354-9AB3-43B5-B144-C4CD75EC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955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Доля валидно заполненных обязательных полей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53B8C-5DF4-48A4-BFFE-4A95FC23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669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75891-0E3C-4B45-B25F-4CCB5E76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03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Precision auto_accept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C430A-77F6-4072-913F-249E4ABA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955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Безопасность автоматически принятых значений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CDFC4-FFBB-41AA-B37E-9AC57A0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15919-C148-47CD-928D-021BF1F1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Review / abstain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9D7900-26F3-426A-A83D-1461C3D6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Нагрузка оператора и честные отказы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7966C-71F4-4551-956F-2C67A77F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68C18-13A2-484A-9BA7-7C35843A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052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LLM calls / 1 000 SKU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A57D5-9E7B-493F-8BA3-436F9CD7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004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Доля дорогой обработки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E4FF4-307C-40CE-8309-3D3A6F23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718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E4E71F-CDD1-49EF-AA43-9AA41B48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052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Cost / 1 000 SKU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3A67F4-F5CB-4A28-86DD-C6B30E61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004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Вычисления, LLM и ручная проверка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EC4BAA-309B-4F59-B6C2-9A67D825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1155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9AB9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AD9F02-83BD-48EB-8FA9-1B98842A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Срезы: атрибут · категория · частота значения · продавец · источник текста · маршрут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444CF9-4562-4421-98FA-FE894DE6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traffic-weighted quality = Σ(weight × quality) / Σ(weight)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9FAC3F-D239-43C3-99B3-9CED2AE7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7912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Вес появится после EDA query_clicks</a:t>
            </a:r>
          </a:p>
        </p:txBody>
      </p:sp>
    </p:spTree>
    <p:extLst>
      <p:ext uri="{BB962C8B-B14F-4D97-AF65-F5344CB8AC3E}">
        <p14:creationId xmlns:p14="http://schemas.microsoft.com/office/powerpoint/2010/main" val="1003711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66B26-88E8-4C35-B0E8-D3CDBEC6F3C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782175" y="26289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5E3E1F-C415-4E88-9E97-783BAA1E1E4B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058150" y="26289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C7588-2754-452C-97E2-AA46AB06774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81700" y="26289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BBFB7-2106-4F44-81C2-E597DCC1117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57625" y="26289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254DB-6C63-45F7-9705-E508B437B40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114550" y="26289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6BAA4D-04AB-4ED3-84BA-05F9F48C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08 / RISK AND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A6031-775D-4DF7-8AC2-E8CAB680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B250B-BD51-461B-9C2D-29DF5DD6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13388-7B06-49EE-8C45-406E4822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4476F-67D6-4073-B933-1BDD3314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E9E25-623C-4760-ADD9-26E6CDCB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Стоимость и риск управляются маршрутизацией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42F79-5674-4FC2-AB24-5C5C5BAA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504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54A53-8F14-4433-B1C3-9880C1D5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1 000 SKU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F10D4-FCED-4E68-918E-AF0FF4C6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62200"/>
            <a:ext cx="1238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2A28B-2FAD-4E86-A6C7-014ED023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4955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3470E-EBCB-4480-BDA3-B2AC335F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161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665B4-93A7-4B44-A9D4-BEB3952A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95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Local encoder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C758B-4D1D-4BDB-9508-CF11505C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62200"/>
            <a:ext cx="15716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496F2-F255-4144-B40E-E1B92D39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95550"/>
            <a:ext cx="1304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LLM residual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304B6-A648-44FF-9E2B-B39DBF9D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362200"/>
            <a:ext cx="1219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5FA92-6185-471E-8F93-74C403F1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9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Verifier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026019-25DE-4597-BCDE-F1D233D6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6220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68D88-AD8D-4810-AE08-C66D7652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95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Решение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13761-EEB2-4217-9EAF-235F2C1A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РИСК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4E644-3EE2-4FF5-AB1F-91A2039B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76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ЗАЩИТА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6CF0A0-A33F-4BC2-9BA1-309D52D9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136FCF-20F4-4120-B96C-229C6F86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Галлюцинация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0CB903-9799-404D-93F6-A68EC7EE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6715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JSON schema + evidence span + verifier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E1AFF1-6602-4424-873F-ADC13A34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1B3516-1079-48FF-9770-E24D5700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Конфликт источников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E7A082-6355-47C1-BD69-C14BDE95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6720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Review вместо автоматической записи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D11D7-F0B9-4B6C-A67D-A162061F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72CCD2-4B94-4AC0-88FB-879F158F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Разные форматы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2EEA16-AA9A-4E9C-9798-0121426D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6725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Unit normalizer и словари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E3FBD9-813C-40D5-8C1D-CC5D8DCC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55414D-5A35-40F8-926D-729FCF3D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Рост затрат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00F5A7-C961-4C36-9C9E-17841F63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6730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Каскад, cache и cost cap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90F9F1-18DE-485C-9907-5D430614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904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026A8A-D4A7-404F-928A-7D6A8DEE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3575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0B1F3A"/>
                </a:solidFill>
                <a:latin typeface="Menlo"/>
                <a:ea typeface="Menlo"/>
                <a:cs typeface="Menlo"/>
              </a:rPr>
              <a:t>cost_1000 = local_compute + LLM calls × cost_per_call + review_minutes × operator_rate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AA7BAB-7A69-4971-B396-E7ED7422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7245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Числа появятся после EDA и доступа к модели</a:t>
            </a:r>
          </a:p>
        </p:txBody>
      </p:sp>
    </p:spTree>
    <p:extLst>
      <p:ext uri="{BB962C8B-B14F-4D97-AF65-F5344CB8AC3E}">
        <p14:creationId xmlns:p14="http://schemas.microsoft.com/office/powerpoint/2010/main" val="11919595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0E604C-1182-4F72-B884-852D1CDA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09 / RESEARCH BASIS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894B3-4133-414C-8104-90444E96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F481B-737C-4EBB-AFCA-43801C75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1C13F-AD56-4918-ACBA-556639D6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FF51E-63B7-4EBA-B19A-FF386B62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7FA55-01DC-43B5-AFE8-D3C04009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Научная опора архитектуры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878B9-1F8A-4B14-9F4D-93716EE9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1055A-B799-48D7-9D8B-911A4A71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28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Ask-and-Verify · EMNLP Industry 2022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A8D9A-4DE9-4405-8121-44290A07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Candidate span и независимая проверка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54E3C-9512-461A-901E-B47AB7BA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AA899-36B3-4097-9238-7E5B40BB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32480-93C2-411B-BC59-C51B8177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Explicit Attribute Extraction · ECNLP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C7031-1795-4816-A963-92CDC6BB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Нормализация и атрибуты для e-commerce поиска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9A853-2C38-42E4-8B86-C1DB9469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C796B-ADDB-4111-B70D-24CAEA90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C2475-8FEF-465B-A090-44C4EC05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FrugalGPT · 2023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DB48A-A5CE-478D-A1F6-C0DE027A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Каскад более дорогих моделей для сложных случаев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A6ED1-602E-41D7-95C2-82B3743B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72473-EC59-4C22-A3EB-596A933C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29B2C-F45D-4B3F-A9F0-FE9C4176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OpenTag · KDD 2018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A5E7F-1EDD-4A24-8941-2BC1DBF9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Active learning для сомнительных примеров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E84FD-B9BA-4D17-BAC2-3D81D740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63A8BA-80B3-4F19-9FF3-2B189A0C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990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AB17A2-1E50-4CCE-A9D9-7029BE1F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3075"/>
            <a:ext cx="923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Исследования обосновывают архитектуру. Метрики GoodsAI считаем на датасете кейса.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477C3C-79B5-43C5-8281-7CBBF6E6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4C65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4C6580"/>
                </a:solidFill>
                <a:latin typeface="Avenir Next"/>
                <a:ea typeface="Avenir Next"/>
                <a:cs typeface="Avenir Next"/>
              </a:rPr>
              <a:t>Ссылки: aclanthology.org/2022.emnlp-industry.9 · aclanthology.org/2024.ecnlp-1.13 · arxiv.org/abs/2305.05176 · amazon.science/publications/opentag-open-attribute-extraction-from-product-profiles</a:t>
            </a:r>
          </a:p>
        </p:txBody>
      </p:sp>
    </p:spTree>
    <p:extLst>
      <p:ext uri="{BB962C8B-B14F-4D97-AF65-F5344CB8AC3E}">
        <p14:creationId xmlns:p14="http://schemas.microsoft.com/office/powerpoint/2010/main" val="14973082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E47BC-0C76-4617-8809-E574C7BEE68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24750" y="26670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7D395-B7A2-4A49-B44F-C984CC2331EC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15000" y="26670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93F2A-C90B-491C-9761-F76D937807C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905250" y="26670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A366B-B530-48ED-8C45-FD6D1FC4105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095500" y="26670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1F3A"/>
            </a:solidFill>
            <a:prstDash val="solid"/>
            <a:tail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088C59-EFA7-4FBB-8FDE-B6DF4A47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10 /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4FE54-DD54-467B-A8DD-4F86D42B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CRUDoshleps · ИТМО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5CE84-B339-4C69-B6B1-C657217D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D8"/>
          </a:solidFill>
          <a:ln xmlns:a="http://schemas.openxmlformats.org/drawingml/2006/main" w="0">
            <a:solidFill>
              <a:srgbClr val="9AB9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B6801-6FA7-4011-8072-23F2D4DB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7AE4F-21CC-49EC-921B-CB8A4524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4C6580"/>
                </a:solidFill>
                <a:latin typeface="Menlo"/>
                <a:ea typeface="Menlo"/>
                <a:cs typeface="Menlo"/>
              </a:rPr>
              <a:t>GoodsAI · продуктовый чекпоинт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909EF-270B-4213-8B43-6CD80130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Путь к воспроизводимому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5C391-359F-4F08-A5C4-87CF7502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485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CFE8B-F048-4B8C-A8D2-EBF26499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Аудит +</a:t>
            </a:r>
          </a:p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предобработка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93465-A287-4D7A-8EE0-7CFA5358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43150"/>
            <a:ext cx="1485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75039-D882-4497-A20D-D40EEE96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EDA + контракт</a:t>
            </a:r>
          </a:p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данных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63487-6543-4D94-BA31-5C3B5B50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1485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A99EE-86BF-4115-8E44-3C9FFE38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Правила +</a:t>
            </a:r>
          </a:p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нормализатор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4CDD4-B295-4955-AEDD-AA32B6DB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1485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46791-044F-46E6-B21F-CC207D51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Локальный encoder</a:t>
            </a:r>
          </a:p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+ LLM 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65B3E-68C1-4ABF-97EF-D89F9780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1485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B89E9-D907-4E1C-8B6E-E163C05E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Review-демо</a:t>
            </a:r>
          </a:p>
          <a:p xmlns:a="http://schemas.openxmlformats.org/drawingml/2006/main">
            <a:pPr algn="ctr">
              <a:defRPr sz="1050" b="0">
                <a:solidFill>
                  <a:srgbClr val="0B1F3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0B1F3A"/>
                </a:solidFill>
                <a:latin typeface="Menlo"/>
                <a:ea typeface="Menlo"/>
                <a:cs typeface="Menlo"/>
              </a:rPr>
              <a:t>+ predictions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4E7F8-03D8-4033-B479-A946449A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СТЕК MVP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320FC5-BC08-4458-8185-9A02F4DB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9827D-228A-48B7-9F72-38C91FED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B6C7E9-8429-49C4-A609-83117E9E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767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Python 3.11 · Polars · DuckDB · Jupyter · дедупликация · очистка текста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978B29-6B6D-4197-9A72-8D74E0D3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SCHEMA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93E6E1-4993-4507-9B35-FDFD9A12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291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YAML · Pydantic · regex · RapidFuzz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FB33C-4576-4E5A-9445-6D42FD68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ML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5440D-522F-4976-AB8D-F61FB126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8157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PyTorch · Transformers · русскоязычный BERT encoder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E32E80-0F4B-46DC-8A04-CA7D1D7F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C6580"/>
                </a:solidFill>
                <a:latin typeface="Menlo"/>
                <a:ea typeface="Menlo"/>
                <a:cs typeface="Menlo"/>
              </a:defRPr>
            </a:pPr>
            <a:r>
              <a:rPr sz="750" b="1">
                <a:solidFill>
                  <a:srgbClr val="4C6580"/>
                </a:solidFill>
                <a:latin typeface="Menlo"/>
                <a:ea typeface="Menlo"/>
                <a:cs typeface="Menlo"/>
              </a:rPr>
              <a:t>DELIVERY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3796FD-2420-42B3-949A-314FEE00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JSON schema · Streamlit/HTML · pytest · GitHub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D7A7B4-AE81-4A32-9533-85CD7850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19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DCEE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5D8B2B-A2EB-4F07-9A5E-00DD08CE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1F3A"/>
                </a:solidFill>
                <a:latin typeface="Avenir Next"/>
                <a:ea typeface="Avenir Next"/>
                <a:cs typeface="Avenir Next"/>
              </a:rPr>
              <a:t>Повышаем полезное покрытие каталога без недоказанных значений и инференса LLM для каждой SKU</a:t>
            </a:r>
          </a:p>
        </p:txBody>
      </p:sp>
    </p:spTree>
    <p:extLst>
      <p:ext uri="{BB962C8B-B14F-4D97-AF65-F5344CB8AC3E}">
        <p14:creationId xmlns:p14="http://schemas.microsoft.com/office/powerpoint/2010/main" val="1584166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2026-10-14T20:38:33.8520000Z</dcterms:created>
  <dcterms:modified xsi:type="dcterms:W3CDTF">2026-10-14T20:38:33.8520000Z</dcterms:modified>
</coreProperties>
</file>